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5240000" cy="8572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Accounts</c:v>
                </c:pt>
              </c:strCache>
            </c:strRef>
          </c:tx>
          <c:spPr>
            <a:solidFill>
              <a:srgbClr val="5B2A86"/>
            </a:solidFill>
          </c:spPr>
          <c:cat>
            <c:strRef>
              <c:f>Sheet1!$A$2:$A$6</c:f>
              <c:strCache>
                <c:ptCount val="5"/>
                <c:pt idx="0">
                  <c:v>Seed accounts</c:v>
                </c:pt>
                <c:pt idx="1">
                  <c:v>1 hop</c:v>
                </c:pt>
                <c:pt idx="2">
                  <c:v>2 hops</c:v>
                </c:pt>
                <c:pt idx="3">
                  <c:v>3 hops</c:v>
                </c:pt>
                <c:pt idx="4">
                  <c:v>Unique 1-3</c:v>
                </c:pt>
              </c:strCache>
            </c:strRef>
          </c:cat>
          <c:val>
            <c:numRef>
              <c:f>Sheet1!$B$2:$B$6</c:f>
              <c:numCache>
                <c:formatCode>General</c:formatCode>
                <c:ptCount val="5"/>
                <c:pt idx="0">
                  <c:v>41</c:v>
                </c:pt>
                <c:pt idx="1">
                  <c:v>102</c:v>
                </c:pt>
                <c:pt idx="2">
                  <c:v>169</c:v>
                </c:pt>
                <c:pt idx="3">
                  <c:v>218</c:v>
                </c:pt>
                <c:pt idx="4">
                  <c:v>418</c:v>
                </c:pt>
              </c:numCache>
            </c:numRef>
          </c:val>
        </c:ser>
        <c:dLbls>
          <c:txPr>
            <a:bodyPr/>
            <a:lstStyle/>
            <a:p>
              <a:pPr>
                <a:defRPr sz="1200"/>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Loop paths</c:v>
                </c:pt>
              </c:strCache>
            </c:strRef>
          </c:tx>
          <c:spPr>
            <a:solidFill>
              <a:srgbClr val="5B2A86"/>
            </a:solidFill>
          </c:spPr>
          <c:cat>
            <c:strRef>
              <c:f>Sheet1!$A$2:$A$4</c:f>
              <c:strCache>
                <c:ptCount val="3"/>
                <c:pt idx="0">
                  <c:v>2 hops</c:v>
                </c:pt>
                <c:pt idx="1">
                  <c:v>3 hops</c:v>
                </c:pt>
                <c:pt idx="2">
                  <c:v>4 hops</c:v>
                </c:pt>
              </c:strCache>
            </c:strRef>
          </c:cat>
          <c:val>
            <c:numRef>
              <c:f>Sheet1!$B$2:$B$4</c:f>
              <c:numCache>
                <c:formatCode>General</c:formatCode>
                <c:ptCount val="3"/>
                <c:pt idx="0">
                  <c:v>44</c:v>
                </c:pt>
                <c:pt idx="1">
                  <c:v>9</c:v>
                </c:pt>
                <c:pt idx="2">
                  <c:v>10</c:v>
                </c:pt>
              </c:numCache>
            </c:numRef>
          </c:val>
        </c:ser>
        <c:dLbls>
          <c:txPr>
            <a:bodyPr/>
            <a:lstStyle/>
            <a:p>
              <a:pPr>
                <a:defRPr sz="1200"/>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Distinct loans</c:v>
                </c:pt>
              </c:strCache>
            </c:strRef>
          </c:tx>
          <c:spPr>
            <a:solidFill>
              <a:srgbClr val="5B2A86"/>
            </a:solidFill>
          </c:spPr>
          <c:cat>
            <c:strRef>
              <c:f>Sheet1!$A$2:$A$5</c:f>
              <c:strCache>
                <c:ptCount val="4"/>
                <c:pt idx="0">
                  <c:v>Payout acct</c:v>
                </c:pt>
                <c:pt idx="1">
                  <c:v>1 hop</c:v>
                </c:pt>
                <c:pt idx="2">
                  <c:v>2 hops</c:v>
                </c:pt>
                <c:pt idx="3">
                  <c:v>3 hops</c:v>
                </c:pt>
              </c:strCache>
            </c:strRef>
          </c:cat>
          <c:val>
            <c:numRef>
              <c:f>Sheet1!$B$2:$B$5</c:f>
              <c:numCache>
                <c:formatCode>General</c:formatCode>
                <c:ptCount val="4"/>
                <c:pt idx="0">
                  <c:v>87</c:v>
                </c:pt>
                <c:pt idx="1">
                  <c:v>184</c:v>
                </c:pt>
                <c:pt idx="2">
                  <c:v>308</c:v>
                </c:pt>
                <c:pt idx="3">
                  <c:v>290</c:v>
                </c:pt>
              </c:numCache>
            </c:numRef>
          </c:val>
        </c:ser>
        <c:dLbls>
          <c:txPr>
            <a:bodyPr/>
            <a:lstStyle/>
            <a:p>
              <a:pPr>
                <a:defRPr sz="1200"/>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Person pairs</c:v>
                </c:pt>
              </c:strCache>
            </c:strRef>
          </c:tx>
          <c:spPr>
            <a:solidFill>
              <a:srgbClr val="5B2A86"/>
            </a:solidFill>
          </c:spPr>
          <c:cat>
            <c:strRef>
              <c:f>Sheet1!$A$2:$A$5</c:f>
              <c:strCache>
                <c:ptCount val="4"/>
                <c:pt idx="0">
                  <c:v>1 hop</c:v>
                </c:pt>
                <c:pt idx="1">
                  <c:v>2 hops</c:v>
                </c:pt>
                <c:pt idx="2">
                  <c:v>3 hops</c:v>
                </c:pt>
                <c:pt idx="3">
                  <c:v>4 hops</c:v>
                </c:pt>
              </c:strCache>
            </c:strRef>
          </c:cat>
          <c:val>
            <c:numRef>
              <c:f>Sheet1!$B$2:$B$5</c:f>
              <c:numCache>
                <c:formatCode>General</c:formatCode>
                <c:ptCount val="4"/>
                <c:pt idx="0">
                  <c:v>377</c:v>
                </c:pt>
                <c:pt idx="1">
                  <c:v>181</c:v>
                </c:pt>
                <c:pt idx="2">
                  <c:v>90</c:v>
                </c:pt>
                <c:pt idx="3">
                  <c:v>55</c:v>
                </c:pt>
              </c:numCache>
            </c:numRef>
          </c:val>
        </c:ser>
        <c:ser>
          <c:idx val="1"/>
          <c:order val="1"/>
          <c:tx>
            <c:strRef>
              <c:f>Sheet1!$C$1</c:f>
              <c:strCache>
                <c:ptCount val="1"/>
                <c:pt idx="0">
                  <c:v>Company pairs</c:v>
                </c:pt>
              </c:strCache>
            </c:strRef>
          </c:tx>
          <c:spPr>
            <a:solidFill>
              <a:srgbClr val="E0663C"/>
            </a:solidFill>
          </c:spPr>
          <c:cat>
            <c:strRef>
              <c:f>Sheet1!$A$2:$A$5</c:f>
              <c:strCache>
                <c:ptCount val="4"/>
                <c:pt idx="0">
                  <c:v>1 hop</c:v>
                </c:pt>
                <c:pt idx="1">
                  <c:v>2 hops</c:v>
                </c:pt>
                <c:pt idx="2">
                  <c:v>3 hops</c:v>
                </c:pt>
                <c:pt idx="3">
                  <c:v>4 hops</c:v>
                </c:pt>
              </c:strCache>
            </c:strRef>
          </c:cat>
          <c:val>
            <c:numRef>
              <c:f>Sheet1!$C$2:$C$5</c:f>
              <c:numCache>
                <c:formatCode>General</c:formatCode>
                <c:ptCount val="4"/>
                <c:pt idx="0">
                  <c:v>202</c:v>
                </c:pt>
                <c:pt idx="1">
                  <c:v>89</c:v>
                </c:pt>
                <c:pt idx="2">
                  <c:v>35</c:v>
                </c:pt>
                <c:pt idx="3">
                  <c:v>13</c:v>
                </c:pt>
              </c:numCache>
            </c:numRef>
          </c:val>
        </c:ser>
        <c:dLbls>
          <c:txPr>
            <a:bodyPr/>
            <a:lstStyle/>
            <a:p>
              <a:pPr>
                <a:defRPr sz="1200"/>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legend>
      <c:legendPos val="t"/>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5240000" cy="8572500"/>
          </a:xfrm>
          <a:prstGeom prst="rect">
            <a:avLst/>
          </a:prstGeom>
          <a:solidFill>
            <a:srgbClr val="5B2A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2000" y="1143000"/>
            <a:ext cx="12382500" cy="3143250"/>
          </a:xfrm>
          <a:prstGeom prst="rect">
            <a:avLst/>
          </a:prstGeom>
          <a:noFill/>
        </p:spPr>
        <p:txBody>
          <a:bodyPr wrap="square">
            <a:spAutoFit/>
          </a:bodyPr>
          <a:lstStyle/>
          <a:p>
            <a:r>
              <a:rPr sz="3584" b="1">
                <a:solidFill>
                  <a:srgbClr val="FFFFFF"/>
                </a:solidFill>
                <a:latin typeface="Helvetica"/>
              </a:rPr>
              <a:t>Network review shows 418 accounts received money within three timed hops from accounts used by blocked sign-in devices</a:t>
            </a:r>
          </a:p>
        </p:txBody>
      </p:sp>
      <p:sp>
        <p:nvSpPr>
          <p:cNvPr id="4" name="TextBox 3"/>
          <p:cNvSpPr txBox="1"/>
          <p:nvPr/>
        </p:nvSpPr>
        <p:spPr>
          <a:xfrm>
            <a:off x="762000" y="4476750"/>
            <a:ext cx="12382500" cy="762000"/>
          </a:xfrm>
          <a:prstGeom prst="rect">
            <a:avLst/>
          </a:prstGeom>
          <a:noFill/>
        </p:spPr>
        <p:txBody>
          <a:bodyPr wrap="square">
            <a:spAutoFit/>
          </a:bodyPr>
          <a:lstStyle/>
          <a:p>
            <a:r>
              <a:rPr sz="1950" b="0">
                <a:solidFill>
                  <a:srgbClr val="FFFFFF"/>
                </a:solidFill>
                <a:latin typeface="Helvetica"/>
              </a:rPr>
              <a:t>PuppyGraph review of LDBC FinBench synthetic bank data: customer, account, device, loan, transfer and guarantee connections</a:t>
            </a:r>
          </a:p>
        </p:txBody>
      </p:sp>
      <p:sp>
        <p:nvSpPr>
          <p:cNvPr id="5" name="TextBox 4"/>
          <p:cNvSpPr txBox="1"/>
          <p:nvPr/>
        </p:nvSpPr>
        <p:spPr>
          <a:xfrm>
            <a:off x="762000" y="5524500"/>
            <a:ext cx="12382500" cy="2190750"/>
          </a:xfrm>
          <a:prstGeom prst="rect">
            <a:avLst/>
          </a:prstGeom>
          <a:noFill/>
        </p:spPr>
        <p:txBody>
          <a:bodyPr wrap="square">
            <a:spAutoFit/>
          </a:bodyPr>
          <a:lstStyle/>
          <a:p>
            <a:r>
              <a:rPr sz="1425" b="0">
                <a:solidFill>
                  <a:srgbClr val="FFFFFF"/>
                </a:solidFill>
                <a:latin typeface="Helvetica"/>
              </a:rPr>
              <a:t>Audience: Risk and compliance leadership</a:t>
            </a:r>
          </a:p>
          <a:p/>
          <a:p>
            <a:r>
              <a:rPr sz="1425" b="0">
                <a:solidFill>
                  <a:srgbClr val="FFFFFF"/>
                </a:solidFill>
                <a:latin typeface="Helvetica"/>
              </a:rPr>
              <a:t>Data note: All figures come from read-only openCypher queries run in this session. Transfers are treated as a money trail only when each hop's create_time is after the previous hop's create_time. Amounts are synthetic and are reported only as queried totals; blocked is a data status flag and is not treated as proof of fraud or timing evidence.</a:t>
            </a:r>
          </a:p>
        </p:txBody>
      </p:sp>
      <p:sp>
        <p:nvSpPr>
          <p:cNvPr id="6" name="TextBox 5"/>
          <p:cNvSpPr txBox="1"/>
          <p:nvPr/>
        </p:nvSpPr>
        <p:spPr>
          <a:xfrm>
            <a:off x="762000" y="8115300"/>
            <a:ext cx="11430000" cy="285750"/>
          </a:xfrm>
          <a:prstGeom prst="rect">
            <a:avLst/>
          </a:prstGeom>
          <a:noFill/>
        </p:spPr>
        <p:txBody>
          <a:bodyPr wrap="square">
            <a:spAutoFit/>
          </a:bodyPr>
          <a:lstStyle/>
          <a:p>
            <a:r>
              <a:rPr sz="1050" b="0">
                <a:solidFill>
                  <a:srgbClr val="FFFFFF"/>
                </a:solidFill>
                <a:latin typeface="Helvetica"/>
              </a:rPr>
              <a:t>Synthetic LDBC FinBench data · queried through PuppyGraph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533400"/>
            <a:ext cx="13716000" cy="666750"/>
          </a:xfrm>
          <a:prstGeom prst="rect">
            <a:avLst/>
          </a:prstGeom>
          <a:noFill/>
        </p:spPr>
        <p:txBody>
          <a:bodyPr wrap="square">
            <a:spAutoFit/>
          </a:bodyPr>
          <a:lstStyle/>
          <a:p>
            <a:r>
              <a:rPr sz="3300" b="1">
                <a:solidFill>
                  <a:srgbClr val="1D1B2F"/>
                </a:solidFill>
                <a:latin typeface="Helvetica"/>
              </a:rPr>
              <a:t>6 numbers risk leadership should know</a:t>
            </a:r>
          </a:p>
        </p:txBody>
      </p:sp>
      <p:sp>
        <p:nvSpPr>
          <p:cNvPr id="3" name="Rounded Rectangle 2"/>
          <p:cNvSpPr/>
          <p:nvPr/>
        </p:nvSpPr>
        <p:spPr>
          <a:xfrm>
            <a:off x="762000" y="1619250"/>
            <a:ext cx="4410075" cy="3143250"/>
          </a:xfrm>
          <a:prstGeom prst="roundRect">
            <a:avLst>
              <a:gd name="adj" fmla="val 5000"/>
            </a:avLst>
          </a:prstGeom>
          <a:solidFill>
            <a:srgbClr val="F4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62000" y="1619250"/>
            <a:ext cx="4410075" cy="57150"/>
          </a:xfrm>
          <a:prstGeom prst="rect">
            <a:avLst/>
          </a:prstGeom>
          <a:solidFill>
            <a:srgbClr val="5B2A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90600" y="1828800"/>
            <a:ext cx="4000500" cy="666750"/>
          </a:xfrm>
          <a:prstGeom prst="rect">
            <a:avLst/>
          </a:prstGeom>
          <a:noFill/>
        </p:spPr>
        <p:txBody>
          <a:bodyPr wrap="square">
            <a:spAutoFit/>
          </a:bodyPr>
          <a:lstStyle/>
          <a:p>
            <a:r>
              <a:rPr sz="4050" b="1">
                <a:solidFill>
                  <a:srgbClr val="5B2A86"/>
                </a:solidFill>
                <a:latin typeface="Helvetica"/>
              </a:rPr>
              <a:t>418</a:t>
            </a:r>
          </a:p>
        </p:txBody>
      </p:sp>
      <p:sp>
        <p:nvSpPr>
          <p:cNvPr id="6" name="TextBox 5"/>
          <p:cNvSpPr txBox="1"/>
          <p:nvPr/>
        </p:nvSpPr>
        <p:spPr>
          <a:xfrm>
            <a:off x="990600" y="2609850"/>
            <a:ext cx="4000500" cy="571500"/>
          </a:xfrm>
          <a:prstGeom prst="rect">
            <a:avLst/>
          </a:prstGeom>
          <a:noFill/>
        </p:spPr>
        <p:txBody>
          <a:bodyPr wrap="square">
            <a:spAutoFit/>
          </a:bodyPr>
          <a:lstStyle/>
          <a:p>
            <a:r>
              <a:rPr sz="1575" b="1">
                <a:solidFill>
                  <a:srgbClr val="1D1B2F"/>
                </a:solidFill>
                <a:latin typeface="Helvetica"/>
              </a:rPr>
              <a:t>downstream accounts</a:t>
            </a:r>
          </a:p>
        </p:txBody>
      </p:sp>
      <p:sp>
        <p:nvSpPr>
          <p:cNvPr id="7" name="TextBox 6"/>
          <p:cNvSpPr txBox="1"/>
          <p:nvPr/>
        </p:nvSpPr>
        <p:spPr>
          <a:xfrm>
            <a:off x="990600" y="3238500"/>
            <a:ext cx="4000500" cy="1428750"/>
          </a:xfrm>
          <a:prstGeom prst="rect">
            <a:avLst/>
          </a:prstGeom>
          <a:noFill/>
        </p:spPr>
        <p:txBody>
          <a:bodyPr wrap="square">
            <a:spAutoFit/>
          </a:bodyPr>
          <a:lstStyle/>
          <a:p>
            <a:r>
              <a:rPr sz="1275" b="0">
                <a:solidFill>
                  <a:srgbClr val="5F5B73"/>
                </a:solidFill>
                <a:latin typeface="Helvetica"/>
              </a:rPr>
              <a:t>Unique accounts receiving transfers within 1-3 chronological hops from accounts used by blocked media: query returned 418. This is 418 / 2,055 total accounts = 20.3%.</a:t>
            </a:r>
          </a:p>
        </p:txBody>
      </p:sp>
      <p:sp>
        <p:nvSpPr>
          <p:cNvPr id="8" name="Rounded Rectangle 7"/>
          <p:cNvSpPr/>
          <p:nvPr/>
        </p:nvSpPr>
        <p:spPr>
          <a:xfrm>
            <a:off x="5419725" y="1619250"/>
            <a:ext cx="4410075" cy="3143250"/>
          </a:xfrm>
          <a:prstGeom prst="roundRect">
            <a:avLst>
              <a:gd name="adj" fmla="val 5000"/>
            </a:avLst>
          </a:prstGeom>
          <a:solidFill>
            <a:srgbClr val="F4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19725" y="1619250"/>
            <a:ext cx="4410075" cy="57150"/>
          </a:xfrm>
          <a:prstGeom prst="rect">
            <a:avLst/>
          </a:prstGeom>
          <a:solidFill>
            <a:srgbClr val="5B2A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48325" y="1828800"/>
            <a:ext cx="4000500" cy="666750"/>
          </a:xfrm>
          <a:prstGeom prst="rect">
            <a:avLst/>
          </a:prstGeom>
          <a:noFill/>
        </p:spPr>
        <p:txBody>
          <a:bodyPr wrap="square">
            <a:spAutoFit/>
          </a:bodyPr>
          <a:lstStyle/>
          <a:p>
            <a:r>
              <a:rPr sz="4050" b="1">
                <a:solidFill>
                  <a:srgbClr val="5B2A86"/>
                </a:solidFill>
                <a:latin typeface="Helvetica"/>
              </a:rPr>
              <a:t>41</a:t>
            </a:r>
          </a:p>
        </p:txBody>
      </p:sp>
      <p:sp>
        <p:nvSpPr>
          <p:cNvPr id="11" name="TextBox 10"/>
          <p:cNvSpPr txBox="1"/>
          <p:nvPr/>
        </p:nvSpPr>
        <p:spPr>
          <a:xfrm>
            <a:off x="5648325" y="2609850"/>
            <a:ext cx="4000500" cy="571500"/>
          </a:xfrm>
          <a:prstGeom prst="rect">
            <a:avLst/>
          </a:prstGeom>
          <a:noFill/>
        </p:spPr>
        <p:txBody>
          <a:bodyPr wrap="square">
            <a:spAutoFit/>
          </a:bodyPr>
          <a:lstStyle/>
          <a:p>
            <a:r>
              <a:rPr sz="1575" b="1">
                <a:solidFill>
                  <a:srgbClr val="1D1B2F"/>
                </a:solidFill>
                <a:latin typeface="Helvetica"/>
              </a:rPr>
              <a:t>accounts used from blocked devices</a:t>
            </a:r>
          </a:p>
        </p:txBody>
      </p:sp>
      <p:sp>
        <p:nvSpPr>
          <p:cNvPr id="12" name="TextBox 11"/>
          <p:cNvSpPr txBox="1"/>
          <p:nvPr/>
        </p:nvSpPr>
        <p:spPr>
          <a:xfrm>
            <a:off x="5648325" y="3238500"/>
            <a:ext cx="4000500" cy="1428750"/>
          </a:xfrm>
          <a:prstGeom prst="rect">
            <a:avLst/>
          </a:prstGeom>
          <a:noFill/>
        </p:spPr>
        <p:txBody>
          <a:bodyPr wrap="square">
            <a:spAutoFit/>
          </a:bodyPr>
          <a:lstStyle/>
          <a:p>
            <a:r>
              <a:rPr sz="1275" b="0">
                <a:solidFill>
                  <a:srgbClr val="5F5B73"/>
                </a:solidFill>
                <a:latin typeface="Helvetica"/>
              </a:rPr>
              <a:t>Blocked-media sign-in query returned 41 distinct accounts out of 536 accounts with any sign-in = 41 / 536 = 7.6%; 31 of 480 media with sign-ins were blocked = 6.5%.</a:t>
            </a:r>
          </a:p>
        </p:txBody>
      </p:sp>
      <p:sp>
        <p:nvSpPr>
          <p:cNvPr id="13" name="Rounded Rectangle 12"/>
          <p:cNvSpPr/>
          <p:nvPr/>
        </p:nvSpPr>
        <p:spPr>
          <a:xfrm>
            <a:off x="10077450" y="1619250"/>
            <a:ext cx="4410075" cy="3143250"/>
          </a:xfrm>
          <a:prstGeom prst="roundRect">
            <a:avLst>
              <a:gd name="adj" fmla="val 5000"/>
            </a:avLst>
          </a:prstGeom>
          <a:solidFill>
            <a:srgbClr val="F4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077450" y="1619250"/>
            <a:ext cx="4410075" cy="57150"/>
          </a:xfrm>
          <a:prstGeom prst="rect">
            <a:avLst/>
          </a:prstGeom>
          <a:solidFill>
            <a:srgbClr val="5B2A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06050" y="1828800"/>
            <a:ext cx="4000500" cy="666750"/>
          </a:xfrm>
          <a:prstGeom prst="rect">
            <a:avLst/>
          </a:prstGeom>
          <a:noFill/>
        </p:spPr>
        <p:txBody>
          <a:bodyPr wrap="square">
            <a:spAutoFit/>
          </a:bodyPr>
          <a:lstStyle/>
          <a:p>
            <a:r>
              <a:rPr sz="4050" b="1">
                <a:solidFill>
                  <a:srgbClr val="5B2A86"/>
                </a:solidFill>
                <a:latin typeface="Helvetica"/>
              </a:rPr>
              <a:t>63 loops</a:t>
            </a:r>
          </a:p>
        </p:txBody>
      </p:sp>
      <p:sp>
        <p:nvSpPr>
          <p:cNvPr id="16" name="TextBox 15"/>
          <p:cNvSpPr txBox="1"/>
          <p:nvPr/>
        </p:nvSpPr>
        <p:spPr>
          <a:xfrm>
            <a:off x="10306050" y="2609850"/>
            <a:ext cx="4000500" cy="571500"/>
          </a:xfrm>
          <a:prstGeom prst="rect">
            <a:avLst/>
          </a:prstGeom>
          <a:noFill/>
        </p:spPr>
        <p:txBody>
          <a:bodyPr wrap="square">
            <a:spAutoFit/>
          </a:bodyPr>
          <a:lstStyle/>
          <a:p>
            <a:r>
              <a:rPr sz="1575" b="1">
                <a:solidFill>
                  <a:srgbClr val="1D1B2F"/>
                </a:solidFill>
                <a:latin typeface="Helvetica"/>
              </a:rPr>
              <a:t>round-tripping transfer paths</a:t>
            </a:r>
          </a:p>
        </p:txBody>
      </p:sp>
      <p:sp>
        <p:nvSpPr>
          <p:cNvPr id="17" name="TextBox 16"/>
          <p:cNvSpPr txBox="1"/>
          <p:nvPr/>
        </p:nvSpPr>
        <p:spPr>
          <a:xfrm>
            <a:off x="10306050" y="3238500"/>
            <a:ext cx="4000500" cy="1428750"/>
          </a:xfrm>
          <a:prstGeom prst="rect">
            <a:avLst/>
          </a:prstGeom>
          <a:noFill/>
        </p:spPr>
        <p:txBody>
          <a:bodyPr wrap="square">
            <a:spAutoFit/>
          </a:bodyPr>
          <a:lstStyle/>
          <a:p>
            <a:r>
              <a:rPr sz="1275" b="0">
                <a:solidFill>
                  <a:srgbClr val="5F5B73"/>
                </a:solidFill>
                <a:latin typeface="Helvetica"/>
              </a:rPr>
              <a:t>Chronological loops returned 44 two-hop + 9 three-hop + 10 four-hop paths = 63. Against 8,132 transfer edges, that is 63 / 8,132 = 0.8% as a path-to-transfer reference ratio.</a:t>
            </a:r>
          </a:p>
        </p:txBody>
      </p:sp>
      <p:sp>
        <p:nvSpPr>
          <p:cNvPr id="18" name="Rounded Rectangle 17"/>
          <p:cNvSpPr/>
          <p:nvPr/>
        </p:nvSpPr>
        <p:spPr>
          <a:xfrm>
            <a:off x="762000" y="5010150"/>
            <a:ext cx="4410075" cy="3143250"/>
          </a:xfrm>
          <a:prstGeom prst="roundRect">
            <a:avLst>
              <a:gd name="adj" fmla="val 5000"/>
            </a:avLst>
          </a:prstGeom>
          <a:solidFill>
            <a:srgbClr val="F4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62000" y="5010150"/>
            <a:ext cx="4410075" cy="57150"/>
          </a:xfrm>
          <a:prstGeom prst="rect">
            <a:avLst/>
          </a:prstGeom>
          <a:solidFill>
            <a:srgbClr val="5B2A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0600" y="5219700"/>
            <a:ext cx="4000500" cy="666750"/>
          </a:xfrm>
          <a:prstGeom prst="rect">
            <a:avLst/>
          </a:prstGeom>
          <a:noFill/>
        </p:spPr>
        <p:txBody>
          <a:bodyPr wrap="square">
            <a:spAutoFit/>
          </a:bodyPr>
          <a:lstStyle/>
          <a:p>
            <a:r>
              <a:rPr sz="4050" b="1">
                <a:solidFill>
                  <a:srgbClr val="5B2A86"/>
                </a:solidFill>
                <a:latin typeface="Helvetica"/>
              </a:rPr>
              <a:t>503</a:t>
            </a:r>
          </a:p>
        </p:txBody>
      </p:sp>
      <p:sp>
        <p:nvSpPr>
          <p:cNvPr id="21" name="TextBox 20"/>
          <p:cNvSpPr txBox="1"/>
          <p:nvPr/>
        </p:nvSpPr>
        <p:spPr>
          <a:xfrm>
            <a:off x="990600" y="6000750"/>
            <a:ext cx="4000500" cy="571500"/>
          </a:xfrm>
          <a:prstGeom prst="rect">
            <a:avLst/>
          </a:prstGeom>
          <a:noFill/>
        </p:spPr>
        <p:txBody>
          <a:bodyPr wrap="square">
            <a:spAutoFit/>
          </a:bodyPr>
          <a:lstStyle/>
          <a:p>
            <a:r>
              <a:rPr sz="1575" b="1">
                <a:solidFill>
                  <a:srgbClr val="1D1B2F"/>
                </a:solidFill>
                <a:latin typeface="Helvetica"/>
              </a:rPr>
              <a:t>loans reaching blocked accounts</a:t>
            </a:r>
          </a:p>
        </p:txBody>
      </p:sp>
      <p:sp>
        <p:nvSpPr>
          <p:cNvPr id="22" name="TextBox 21"/>
          <p:cNvSpPr txBox="1"/>
          <p:nvPr/>
        </p:nvSpPr>
        <p:spPr>
          <a:xfrm>
            <a:off x="990600" y="6629400"/>
            <a:ext cx="4000500" cy="1428750"/>
          </a:xfrm>
          <a:prstGeom prst="rect">
            <a:avLst/>
          </a:prstGeom>
          <a:noFill/>
        </p:spPr>
        <p:txBody>
          <a:bodyPr wrap="square">
            <a:spAutoFit/>
          </a:bodyPr>
          <a:lstStyle/>
          <a:p>
            <a:r>
              <a:rPr sz="1275" b="0">
                <a:solidFill>
                  <a:srgbClr val="5F5B73"/>
                </a:solidFill>
                <a:latin typeface="Helvetica"/>
              </a:rPr>
              <a:t>Union query returned 503 distinct loans whose proceeds reached blocked accounts within 1-3 chronological transfer hops after payout. Baseline query returned 1,107 loans with deposits, so 503 / 1,107 = 45.4%.</a:t>
            </a:r>
          </a:p>
        </p:txBody>
      </p:sp>
      <p:sp>
        <p:nvSpPr>
          <p:cNvPr id="23" name="Rounded Rectangle 22"/>
          <p:cNvSpPr/>
          <p:nvPr/>
        </p:nvSpPr>
        <p:spPr>
          <a:xfrm>
            <a:off x="5419725" y="5010150"/>
            <a:ext cx="4410075" cy="3143250"/>
          </a:xfrm>
          <a:prstGeom prst="roundRect">
            <a:avLst>
              <a:gd name="adj" fmla="val 5000"/>
            </a:avLst>
          </a:prstGeom>
          <a:solidFill>
            <a:srgbClr val="F4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19725" y="5010150"/>
            <a:ext cx="4410075" cy="57150"/>
          </a:xfrm>
          <a:prstGeom prst="rect">
            <a:avLst/>
          </a:prstGeom>
          <a:solidFill>
            <a:srgbClr val="5B2A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48325" y="5219700"/>
            <a:ext cx="4000500" cy="666750"/>
          </a:xfrm>
          <a:prstGeom prst="rect">
            <a:avLst/>
          </a:prstGeom>
          <a:noFill/>
        </p:spPr>
        <p:txBody>
          <a:bodyPr wrap="square">
            <a:spAutoFit/>
          </a:bodyPr>
          <a:lstStyle/>
          <a:p>
            <a:r>
              <a:rPr sz="4050" b="1">
                <a:solidFill>
                  <a:srgbClr val="5B2A86"/>
                </a:solidFill>
                <a:latin typeface="Helvetica"/>
              </a:rPr>
              <a:t>1,041</a:t>
            </a:r>
          </a:p>
        </p:txBody>
      </p:sp>
      <p:sp>
        <p:nvSpPr>
          <p:cNvPr id="26" name="TextBox 25"/>
          <p:cNvSpPr txBox="1"/>
          <p:nvPr/>
        </p:nvSpPr>
        <p:spPr>
          <a:xfrm>
            <a:off x="5648325" y="6000750"/>
            <a:ext cx="4000500" cy="571500"/>
          </a:xfrm>
          <a:prstGeom prst="rect">
            <a:avLst/>
          </a:prstGeom>
          <a:noFill/>
        </p:spPr>
        <p:txBody>
          <a:bodyPr wrap="square">
            <a:spAutoFit/>
          </a:bodyPr>
          <a:lstStyle/>
          <a:p>
            <a:r>
              <a:rPr sz="1575" b="1">
                <a:solidFill>
                  <a:srgbClr val="1D1B2F"/>
                </a:solidFill>
                <a:latin typeface="Helvetica"/>
              </a:rPr>
              <a:t>guarantee exposure pairs</a:t>
            </a:r>
          </a:p>
        </p:txBody>
      </p:sp>
      <p:sp>
        <p:nvSpPr>
          <p:cNvPr id="27" name="TextBox 26"/>
          <p:cNvSpPr txBox="1"/>
          <p:nvPr/>
        </p:nvSpPr>
        <p:spPr>
          <a:xfrm>
            <a:off x="5648325" y="6629400"/>
            <a:ext cx="4000500" cy="1428750"/>
          </a:xfrm>
          <a:prstGeom prst="rect">
            <a:avLst/>
          </a:prstGeom>
          <a:noFill/>
        </p:spPr>
        <p:txBody>
          <a:bodyPr wrap="square">
            <a:spAutoFit/>
          </a:bodyPr>
          <a:lstStyle/>
          <a:p>
            <a:r>
              <a:rPr sz="1275" b="0">
                <a:solidFill>
                  <a:srgbClr val="5F5B73"/>
                </a:solidFill>
                <a:latin typeface="Helvetica"/>
              </a:rPr>
              <a:t>Guarantee-chain union returned 702 person pairs and 339 company pairs within 1-4 hops = 1,041 unique guarantor-to-guaranteed pairs. Direct guarantees were 377 + 202 = 579, so chain expansion is 1,041 / 579 = 1.8x.</a:t>
            </a:r>
          </a:p>
        </p:txBody>
      </p:sp>
      <p:sp>
        <p:nvSpPr>
          <p:cNvPr id="28" name="Rounded Rectangle 27"/>
          <p:cNvSpPr/>
          <p:nvPr/>
        </p:nvSpPr>
        <p:spPr>
          <a:xfrm>
            <a:off x="10077450" y="5010150"/>
            <a:ext cx="4410075" cy="3143250"/>
          </a:xfrm>
          <a:prstGeom prst="roundRect">
            <a:avLst>
              <a:gd name="adj" fmla="val 5000"/>
            </a:avLst>
          </a:prstGeom>
          <a:solidFill>
            <a:srgbClr val="F4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077450" y="5010150"/>
            <a:ext cx="4410075" cy="57150"/>
          </a:xfrm>
          <a:prstGeom prst="rect">
            <a:avLst/>
          </a:prstGeom>
          <a:solidFill>
            <a:srgbClr val="5B2A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06050" y="5219700"/>
            <a:ext cx="4000500" cy="666750"/>
          </a:xfrm>
          <a:prstGeom prst="rect">
            <a:avLst/>
          </a:prstGeom>
          <a:noFill/>
        </p:spPr>
        <p:txBody>
          <a:bodyPr wrap="square">
            <a:spAutoFit/>
          </a:bodyPr>
          <a:lstStyle/>
          <a:p>
            <a:r>
              <a:rPr sz="4050" b="1">
                <a:solidFill>
                  <a:srgbClr val="5B2A86"/>
                </a:solidFill>
                <a:latin typeface="Helvetica"/>
              </a:rPr>
              <a:t>1,282</a:t>
            </a:r>
          </a:p>
        </p:txBody>
      </p:sp>
      <p:sp>
        <p:nvSpPr>
          <p:cNvPr id="31" name="TextBox 30"/>
          <p:cNvSpPr txBox="1"/>
          <p:nvPr/>
        </p:nvSpPr>
        <p:spPr>
          <a:xfrm>
            <a:off x="10306050" y="6000750"/>
            <a:ext cx="4000500" cy="571500"/>
          </a:xfrm>
          <a:prstGeom prst="rect">
            <a:avLst/>
          </a:prstGeom>
          <a:noFill/>
        </p:spPr>
        <p:txBody>
          <a:bodyPr wrap="square">
            <a:spAutoFit/>
          </a:bodyPr>
          <a:lstStyle/>
          <a:p>
            <a:r>
              <a:rPr sz="1575" b="1">
                <a:solidFill>
                  <a:srgbClr val="1D1B2F"/>
                </a:solidFill>
                <a:latin typeface="Helvetica"/>
              </a:rPr>
              <a:t>guarantor-loan links</a:t>
            </a:r>
          </a:p>
        </p:txBody>
      </p:sp>
      <p:sp>
        <p:nvSpPr>
          <p:cNvPr id="32" name="TextBox 31"/>
          <p:cNvSpPr txBox="1"/>
          <p:nvPr/>
        </p:nvSpPr>
        <p:spPr>
          <a:xfrm>
            <a:off x="10306050" y="6629400"/>
            <a:ext cx="4000500" cy="1428750"/>
          </a:xfrm>
          <a:prstGeom prst="rect">
            <a:avLst/>
          </a:prstGeom>
          <a:noFill/>
        </p:spPr>
        <p:txBody>
          <a:bodyPr wrap="square">
            <a:spAutoFit/>
          </a:bodyPr>
          <a:lstStyle/>
          <a:p>
            <a:r>
              <a:rPr sz="1275" b="0">
                <a:solidFill>
                  <a:srgbClr val="5F5B73"/>
                </a:solidFill>
                <a:latin typeface="Helvetica"/>
              </a:rPr>
              <a:t>Loan exposure through guarantees returned 888 person guarantor-loan pairs and 394 company guarantor-loan pairs = 1,282. The queried synthetic balance total over those links was 41,772,678,551 + 18,414,685,139 = 60,187,363,690.</a:t>
            </a:r>
          </a:p>
        </p:txBody>
      </p:sp>
      <p:sp>
        <p:nvSpPr>
          <p:cNvPr id="33" name="TextBox 32"/>
          <p:cNvSpPr txBox="1"/>
          <p:nvPr/>
        </p:nvSpPr>
        <p:spPr>
          <a:xfrm>
            <a:off x="762000" y="8115300"/>
            <a:ext cx="11430000" cy="285750"/>
          </a:xfrm>
          <a:prstGeom prst="rect">
            <a:avLst/>
          </a:prstGeom>
          <a:noFill/>
        </p:spPr>
        <p:txBody>
          <a:bodyPr wrap="square">
            <a:spAutoFit/>
          </a:bodyPr>
          <a:lstStyle/>
          <a:p>
            <a:r>
              <a:rPr sz="1050" b="0">
                <a:solidFill>
                  <a:srgbClr val="5F5B73"/>
                </a:solidFill>
                <a:latin typeface="Helvetica"/>
              </a:rPr>
              <a:t>Synthetic LDBC FinBench data · queried through PuppyGraph</a:t>
            </a:r>
          </a:p>
        </p:txBody>
      </p:sp>
      <p:sp>
        <p:nvSpPr>
          <p:cNvPr id="34" name="TextBox 33"/>
          <p:cNvSpPr txBox="1"/>
          <p:nvPr/>
        </p:nvSpPr>
        <p:spPr>
          <a:xfrm>
            <a:off x="13716000" y="8115300"/>
            <a:ext cx="762000" cy="285750"/>
          </a:xfrm>
          <a:prstGeom prst="rect">
            <a:avLst/>
          </a:prstGeom>
          <a:noFill/>
        </p:spPr>
        <p:txBody>
          <a:bodyPr wrap="square">
            <a:spAutoFit/>
          </a:bodyPr>
          <a:lstStyle/>
          <a:p>
            <a:pPr algn="r"/>
            <a:r>
              <a:rPr sz="1050" b="0">
                <a:solidFill>
                  <a:srgbClr val="5F5B73"/>
                </a:solidFill>
                <a:latin typeface="Helvetica"/>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533400"/>
            <a:ext cx="13716000" cy="1047750"/>
          </a:xfrm>
          <a:prstGeom prst="rect">
            <a:avLst/>
          </a:prstGeom>
          <a:noFill/>
        </p:spPr>
        <p:txBody>
          <a:bodyPr wrap="square">
            <a:spAutoFit/>
          </a:bodyPr>
          <a:lstStyle/>
          <a:p>
            <a:r>
              <a:rPr sz="2467" b="1">
                <a:solidFill>
                  <a:srgbClr val="1D1B2F"/>
                </a:solidFill>
                <a:latin typeface="Helvetica"/>
              </a:rPr>
              <a:t>Blocked-device exposure broadens from 41 used accounts to 418 downstream receiving accounts within three timed transfer hops.</a:t>
            </a:r>
          </a:p>
        </p:txBody>
      </p:sp>
      <p:sp>
        <p:nvSpPr>
          <p:cNvPr id="3" name="TextBox 2"/>
          <p:cNvSpPr txBox="1"/>
          <p:nvPr/>
        </p:nvSpPr>
        <p:spPr>
          <a:xfrm>
            <a:off x="762000" y="1714500"/>
            <a:ext cx="8572500" cy="285750"/>
          </a:xfrm>
          <a:prstGeom prst="rect">
            <a:avLst/>
          </a:prstGeom>
          <a:noFill/>
        </p:spPr>
        <p:txBody>
          <a:bodyPr wrap="square">
            <a:spAutoFit/>
          </a:bodyPr>
          <a:lstStyle/>
          <a:p>
            <a:r>
              <a:rPr sz="1425" b="1">
                <a:solidFill>
                  <a:srgbClr val="5F5B73"/>
                </a:solidFill>
                <a:latin typeface="Helvetica"/>
              </a:rPr>
              <a:t>Accounts in the blocked-device transfer neighborhood</a:t>
            </a:r>
          </a:p>
        </p:txBody>
      </p:sp>
      <p:graphicFrame>
        <p:nvGraphicFramePr>
          <p:cNvPr id="4" name="Chart 3"/>
          <p:cNvGraphicFramePr>
            <a:graphicFrameLocks noGrp="1"/>
          </p:cNvGraphicFramePr>
          <p:nvPr/>
        </p:nvGraphicFramePr>
        <p:xfrm>
          <a:off x="762000" y="2047875"/>
          <a:ext cx="8572500" cy="5334000"/>
        </p:xfrm>
        <a:graphic>
          <a:graphicData uri="http://schemas.openxmlformats.org/drawingml/2006/chart">
            <c:chart xmlns:c="http://schemas.openxmlformats.org/drawingml/2006/chart" r:id="rId2"/>
          </a:graphicData>
        </a:graphic>
      </p:graphicFrame>
      <p:sp>
        <p:nvSpPr>
          <p:cNvPr id="5" name="TextBox 4"/>
          <p:cNvSpPr txBox="1"/>
          <p:nvPr/>
        </p:nvSpPr>
        <p:spPr>
          <a:xfrm>
            <a:off x="9791700" y="2000250"/>
            <a:ext cx="4686300" cy="762000"/>
          </a:xfrm>
          <a:prstGeom prst="rect">
            <a:avLst/>
          </a:prstGeom>
          <a:noFill/>
        </p:spPr>
        <p:txBody>
          <a:bodyPr wrap="square">
            <a:spAutoFit/>
          </a:bodyPr>
          <a:lstStyle/>
          <a:p>
            <a:r>
              <a:rPr sz="4350" b="1">
                <a:solidFill>
                  <a:srgbClr val="5B2A86"/>
                </a:solidFill>
                <a:latin typeface="Helvetica"/>
              </a:rPr>
              <a:t>418</a:t>
            </a:r>
          </a:p>
        </p:txBody>
      </p:sp>
      <p:sp>
        <p:nvSpPr>
          <p:cNvPr id="6" name="TextBox 5"/>
          <p:cNvSpPr txBox="1"/>
          <p:nvPr/>
        </p:nvSpPr>
        <p:spPr>
          <a:xfrm>
            <a:off x="9791700" y="2857500"/>
            <a:ext cx="4686300" cy="1047750"/>
          </a:xfrm>
          <a:prstGeom prst="rect">
            <a:avLst/>
          </a:prstGeom>
          <a:noFill/>
        </p:spPr>
        <p:txBody>
          <a:bodyPr wrap="square">
            <a:spAutoFit/>
          </a:bodyPr>
          <a:lstStyle/>
          <a:p>
            <a:r>
              <a:rPr sz="1575" b="1">
                <a:solidFill>
                  <a:srgbClr val="1D1B2F"/>
                </a:solidFill>
                <a:latin typeface="Helvetica"/>
              </a:rPr>
              <a:t>unique downstream accounts within three chronological transfer hops</a:t>
            </a:r>
          </a:p>
        </p:txBody>
      </p:sp>
      <p:sp>
        <p:nvSpPr>
          <p:cNvPr id="7" name="TextBox 6"/>
          <p:cNvSpPr txBox="1"/>
          <p:nvPr/>
        </p:nvSpPr>
        <p:spPr>
          <a:xfrm>
            <a:off x="9791700" y="4095750"/>
            <a:ext cx="4686300" cy="3238500"/>
          </a:xfrm>
          <a:prstGeom prst="rect">
            <a:avLst/>
          </a:prstGeom>
          <a:noFill/>
        </p:spPr>
        <p:txBody>
          <a:bodyPr wrap="square">
            <a:spAutoFit/>
          </a:bodyPr>
          <a:lstStyle/>
          <a:p>
            <a:r>
              <a:rPr sz="1305" b="0">
                <a:solidFill>
                  <a:srgbClr val="5F5B73"/>
                </a:solidFill>
                <a:latin typeface="Helvetica"/>
              </a:rPr>
              <a:t>The row view shows 41 accounts used by blocked sign-in media, but the transfer graph shows a much wider review perimeter: 418 unique accounts received funds within one to three timed hops. Those 418 accounts equal 20.3% of all 2,055 accounts; 27 of the 418 carry a blocked-account flag, or 6.5%. Ownership review is also widened: the reachable accounts map to 217 person owners and 136 company owners, or 353 owner records across the two owner types.</a:t>
            </a:r>
          </a:p>
        </p:txBody>
      </p:sp>
      <p:sp>
        <p:nvSpPr>
          <p:cNvPr id="8" name="TextBox 7"/>
          <p:cNvSpPr txBox="1"/>
          <p:nvPr/>
        </p:nvSpPr>
        <p:spPr>
          <a:xfrm>
            <a:off x="762000" y="7620000"/>
            <a:ext cx="5715000" cy="285750"/>
          </a:xfrm>
          <a:prstGeom prst="rect">
            <a:avLst/>
          </a:prstGeom>
          <a:noFill/>
        </p:spPr>
        <p:txBody>
          <a:bodyPr wrap="square">
            <a:spAutoFit/>
          </a:bodyPr>
          <a:lstStyle/>
          <a:p>
            <a:r>
              <a:rPr sz="1125" b="0">
                <a:solidFill>
                  <a:srgbClr val="5F5B73"/>
                </a:solidFill>
                <a:latin typeface="Helvetica"/>
              </a:rPr>
              <a:t>Fig 1 · query in appendix A1</a:t>
            </a:r>
          </a:p>
        </p:txBody>
      </p:sp>
      <p:sp>
        <p:nvSpPr>
          <p:cNvPr id="9" name="TextBox 8"/>
          <p:cNvSpPr txBox="1"/>
          <p:nvPr/>
        </p:nvSpPr>
        <p:spPr>
          <a:xfrm>
            <a:off x="762000" y="8115300"/>
            <a:ext cx="11430000" cy="285750"/>
          </a:xfrm>
          <a:prstGeom prst="rect">
            <a:avLst/>
          </a:prstGeom>
          <a:noFill/>
        </p:spPr>
        <p:txBody>
          <a:bodyPr wrap="square">
            <a:spAutoFit/>
          </a:bodyPr>
          <a:lstStyle/>
          <a:p>
            <a:r>
              <a:rPr sz="1050" b="0">
                <a:solidFill>
                  <a:srgbClr val="5F5B73"/>
                </a:solidFill>
                <a:latin typeface="Helvetica"/>
              </a:rPr>
              <a:t>Synthetic LDBC FinBench data · queried through PuppyGraph</a:t>
            </a:r>
          </a:p>
        </p:txBody>
      </p:sp>
      <p:sp>
        <p:nvSpPr>
          <p:cNvPr id="10" name="TextBox 9"/>
          <p:cNvSpPr txBox="1"/>
          <p:nvPr/>
        </p:nvSpPr>
        <p:spPr>
          <a:xfrm>
            <a:off x="13716000" y="8115300"/>
            <a:ext cx="762000" cy="285750"/>
          </a:xfrm>
          <a:prstGeom prst="rect">
            <a:avLst/>
          </a:prstGeom>
          <a:noFill/>
        </p:spPr>
        <p:txBody>
          <a:bodyPr wrap="square">
            <a:spAutoFit/>
          </a:bodyPr>
          <a:lstStyle/>
          <a:p>
            <a:pPr algn="r"/>
            <a:r>
              <a:rPr sz="1050" b="0">
                <a:solidFill>
                  <a:srgbClr val="5F5B73"/>
                </a:solidFill>
                <a:latin typeface="Helvetica"/>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533400"/>
            <a:ext cx="13716000" cy="1047750"/>
          </a:xfrm>
          <a:prstGeom prst="rect">
            <a:avLst/>
          </a:prstGeom>
          <a:noFill/>
        </p:spPr>
        <p:txBody>
          <a:bodyPr wrap="square">
            <a:spAutoFit/>
          </a:bodyPr>
          <a:lstStyle/>
          <a:p>
            <a:r>
              <a:rPr sz="2850" b="1">
                <a:solidFill>
                  <a:srgbClr val="1D1B2F"/>
                </a:solidFill>
                <a:latin typeface="Helvetica"/>
              </a:rPr>
              <a:t>Timed transfer paths reveal 63 round-tripping loops that return money to the starting account.</a:t>
            </a:r>
          </a:p>
        </p:txBody>
      </p:sp>
      <p:sp>
        <p:nvSpPr>
          <p:cNvPr id="3" name="TextBox 2"/>
          <p:cNvSpPr txBox="1"/>
          <p:nvPr/>
        </p:nvSpPr>
        <p:spPr>
          <a:xfrm>
            <a:off x="762000" y="1714500"/>
            <a:ext cx="8572500" cy="285750"/>
          </a:xfrm>
          <a:prstGeom prst="rect">
            <a:avLst/>
          </a:prstGeom>
          <a:noFill/>
        </p:spPr>
        <p:txBody>
          <a:bodyPr wrap="square">
            <a:spAutoFit/>
          </a:bodyPr>
          <a:lstStyle/>
          <a:p>
            <a:r>
              <a:rPr sz="1425" b="1">
                <a:solidFill>
                  <a:srgbClr val="5F5B73"/>
                </a:solidFill>
                <a:latin typeface="Helvetica"/>
              </a:rPr>
              <a:t>Chronological round-tripping paths by path length</a:t>
            </a:r>
          </a:p>
        </p:txBody>
      </p:sp>
      <p:graphicFrame>
        <p:nvGraphicFramePr>
          <p:cNvPr id="4" name="Chart 3"/>
          <p:cNvGraphicFramePr>
            <a:graphicFrameLocks noGrp="1"/>
          </p:cNvGraphicFramePr>
          <p:nvPr/>
        </p:nvGraphicFramePr>
        <p:xfrm>
          <a:off x="762000" y="2047875"/>
          <a:ext cx="8572500" cy="5334000"/>
        </p:xfrm>
        <a:graphic>
          <a:graphicData uri="http://schemas.openxmlformats.org/drawingml/2006/chart">
            <c:chart xmlns:c="http://schemas.openxmlformats.org/drawingml/2006/chart" r:id="rId2"/>
          </a:graphicData>
        </a:graphic>
      </p:graphicFrame>
      <p:sp>
        <p:nvSpPr>
          <p:cNvPr id="5" name="TextBox 4"/>
          <p:cNvSpPr txBox="1"/>
          <p:nvPr/>
        </p:nvSpPr>
        <p:spPr>
          <a:xfrm>
            <a:off x="9791700" y="2000250"/>
            <a:ext cx="4686300" cy="762000"/>
          </a:xfrm>
          <a:prstGeom prst="rect">
            <a:avLst/>
          </a:prstGeom>
          <a:noFill/>
        </p:spPr>
        <p:txBody>
          <a:bodyPr wrap="square">
            <a:spAutoFit/>
          </a:bodyPr>
          <a:lstStyle/>
          <a:p>
            <a:r>
              <a:rPr sz="4350" b="1">
                <a:solidFill>
                  <a:srgbClr val="5B2A86"/>
                </a:solidFill>
                <a:latin typeface="Helvetica"/>
              </a:rPr>
              <a:t>45</a:t>
            </a:r>
          </a:p>
        </p:txBody>
      </p:sp>
      <p:sp>
        <p:nvSpPr>
          <p:cNvPr id="6" name="TextBox 5"/>
          <p:cNvSpPr txBox="1"/>
          <p:nvPr/>
        </p:nvSpPr>
        <p:spPr>
          <a:xfrm>
            <a:off x="9791700" y="2857500"/>
            <a:ext cx="4686300" cy="1047750"/>
          </a:xfrm>
          <a:prstGeom prst="rect">
            <a:avLst/>
          </a:prstGeom>
          <a:noFill/>
        </p:spPr>
        <p:txBody>
          <a:bodyPr wrap="square">
            <a:spAutoFit/>
          </a:bodyPr>
          <a:lstStyle/>
          <a:p>
            <a:r>
              <a:rPr sz="1575" b="1">
                <a:solidFill>
                  <a:srgbClr val="1D1B2F"/>
                </a:solidFill>
                <a:latin typeface="Helvetica"/>
              </a:rPr>
              <a:t>starting accounts involved in at least one 2-4 hop loop</a:t>
            </a:r>
          </a:p>
        </p:txBody>
      </p:sp>
      <p:sp>
        <p:nvSpPr>
          <p:cNvPr id="7" name="TextBox 6"/>
          <p:cNvSpPr txBox="1"/>
          <p:nvPr/>
        </p:nvSpPr>
        <p:spPr>
          <a:xfrm>
            <a:off x="9791700" y="4095750"/>
            <a:ext cx="4686300" cy="3238500"/>
          </a:xfrm>
          <a:prstGeom prst="rect">
            <a:avLst/>
          </a:prstGeom>
          <a:noFill/>
        </p:spPr>
        <p:txBody>
          <a:bodyPr wrap="square">
            <a:spAutoFit/>
          </a:bodyPr>
          <a:lstStyle/>
          <a:p>
            <a:r>
              <a:rPr sz="1350" b="0">
                <a:solidFill>
                  <a:srgbClr val="5F5B73"/>
                </a:solidFill>
                <a:latin typeface="Helvetica"/>
              </a:rPr>
              <a:t>The loop test requires each transfer to occur after the prior transfer and requires the path to return to the account it left. The query found 44 two-hop loops, 9 three-hop loops and 10 four-hop loops, for 63 round-tripping paths. These are not accusations; they are network patterns for review because a row-by-row transfer report would not show that money left and later returned through other accounts.</a:t>
            </a:r>
          </a:p>
        </p:txBody>
      </p:sp>
      <p:sp>
        <p:nvSpPr>
          <p:cNvPr id="8" name="TextBox 7"/>
          <p:cNvSpPr txBox="1"/>
          <p:nvPr/>
        </p:nvSpPr>
        <p:spPr>
          <a:xfrm>
            <a:off x="762000" y="7620000"/>
            <a:ext cx="5715000" cy="285750"/>
          </a:xfrm>
          <a:prstGeom prst="rect">
            <a:avLst/>
          </a:prstGeom>
          <a:noFill/>
        </p:spPr>
        <p:txBody>
          <a:bodyPr wrap="square">
            <a:spAutoFit/>
          </a:bodyPr>
          <a:lstStyle/>
          <a:p>
            <a:r>
              <a:rPr sz="1125" b="0">
                <a:solidFill>
                  <a:srgbClr val="5F5B73"/>
                </a:solidFill>
                <a:latin typeface="Helvetica"/>
              </a:rPr>
              <a:t>Fig 2 · query in appendix A2</a:t>
            </a:r>
          </a:p>
        </p:txBody>
      </p:sp>
      <p:sp>
        <p:nvSpPr>
          <p:cNvPr id="9" name="TextBox 8"/>
          <p:cNvSpPr txBox="1"/>
          <p:nvPr/>
        </p:nvSpPr>
        <p:spPr>
          <a:xfrm>
            <a:off x="762000" y="8115300"/>
            <a:ext cx="11430000" cy="285750"/>
          </a:xfrm>
          <a:prstGeom prst="rect">
            <a:avLst/>
          </a:prstGeom>
          <a:noFill/>
        </p:spPr>
        <p:txBody>
          <a:bodyPr wrap="square">
            <a:spAutoFit/>
          </a:bodyPr>
          <a:lstStyle/>
          <a:p>
            <a:r>
              <a:rPr sz="1050" b="0">
                <a:solidFill>
                  <a:srgbClr val="5F5B73"/>
                </a:solidFill>
                <a:latin typeface="Helvetica"/>
              </a:rPr>
              <a:t>Synthetic LDBC FinBench data · queried through PuppyGraph</a:t>
            </a:r>
          </a:p>
        </p:txBody>
      </p:sp>
      <p:sp>
        <p:nvSpPr>
          <p:cNvPr id="10" name="TextBox 9"/>
          <p:cNvSpPr txBox="1"/>
          <p:nvPr/>
        </p:nvSpPr>
        <p:spPr>
          <a:xfrm>
            <a:off x="13716000" y="8115300"/>
            <a:ext cx="762000" cy="285750"/>
          </a:xfrm>
          <a:prstGeom prst="rect">
            <a:avLst/>
          </a:prstGeom>
          <a:noFill/>
        </p:spPr>
        <p:txBody>
          <a:bodyPr wrap="square">
            <a:spAutoFit/>
          </a:bodyPr>
          <a:lstStyle/>
          <a:p>
            <a:pPr algn="r"/>
            <a:r>
              <a:rPr sz="1050" b="0">
                <a:solidFill>
                  <a:srgbClr val="5F5B73"/>
                </a:solidFill>
                <a:latin typeface="Helvetica"/>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533400"/>
            <a:ext cx="13716000" cy="1047750"/>
          </a:xfrm>
          <a:prstGeom prst="rect">
            <a:avLst/>
          </a:prstGeom>
          <a:noFill/>
        </p:spPr>
        <p:txBody>
          <a:bodyPr wrap="square">
            <a:spAutoFit/>
          </a:bodyPr>
          <a:lstStyle/>
          <a:p>
            <a:r>
              <a:rPr sz="2925" b="1">
                <a:solidFill>
                  <a:srgbClr val="1D1B2F"/>
                </a:solidFill>
                <a:latin typeface="Helvetica"/>
              </a:rPr>
              <a:t>Loan-payout trails reach blocked accounts for 503 loans within three timed transfer hops.</a:t>
            </a:r>
          </a:p>
        </p:txBody>
      </p:sp>
      <p:sp>
        <p:nvSpPr>
          <p:cNvPr id="3" name="TextBox 2"/>
          <p:cNvSpPr txBox="1"/>
          <p:nvPr/>
        </p:nvSpPr>
        <p:spPr>
          <a:xfrm>
            <a:off x="762000" y="1714500"/>
            <a:ext cx="8572500" cy="285750"/>
          </a:xfrm>
          <a:prstGeom prst="rect">
            <a:avLst/>
          </a:prstGeom>
          <a:noFill/>
        </p:spPr>
        <p:txBody>
          <a:bodyPr wrap="square">
            <a:spAutoFit/>
          </a:bodyPr>
          <a:lstStyle/>
          <a:p>
            <a:r>
              <a:rPr sz="1425" b="1">
                <a:solidFill>
                  <a:srgbClr val="5F5B73"/>
                </a:solidFill>
                <a:latin typeface="Helvetica"/>
              </a:rPr>
              <a:t>Loans connected to blocked accounts by payout or timed transfer distance</a:t>
            </a:r>
          </a:p>
        </p:txBody>
      </p:sp>
      <p:graphicFrame>
        <p:nvGraphicFramePr>
          <p:cNvPr id="4" name="Chart 3"/>
          <p:cNvGraphicFramePr>
            <a:graphicFrameLocks noGrp="1"/>
          </p:cNvGraphicFramePr>
          <p:nvPr/>
        </p:nvGraphicFramePr>
        <p:xfrm>
          <a:off x="762000" y="2047875"/>
          <a:ext cx="8572500" cy="5334000"/>
        </p:xfrm>
        <a:graphic>
          <a:graphicData uri="http://schemas.openxmlformats.org/drawingml/2006/chart">
            <c:chart xmlns:c="http://schemas.openxmlformats.org/drawingml/2006/chart" r:id="rId2"/>
          </a:graphicData>
        </a:graphic>
      </p:graphicFrame>
      <p:sp>
        <p:nvSpPr>
          <p:cNvPr id="5" name="TextBox 4"/>
          <p:cNvSpPr txBox="1"/>
          <p:nvPr/>
        </p:nvSpPr>
        <p:spPr>
          <a:xfrm>
            <a:off x="9791700" y="2000250"/>
            <a:ext cx="4686300" cy="762000"/>
          </a:xfrm>
          <a:prstGeom prst="rect">
            <a:avLst/>
          </a:prstGeom>
          <a:noFill/>
        </p:spPr>
        <p:txBody>
          <a:bodyPr wrap="square">
            <a:spAutoFit/>
          </a:bodyPr>
          <a:lstStyle/>
          <a:p>
            <a:r>
              <a:rPr sz="4350" b="1">
                <a:solidFill>
                  <a:srgbClr val="5B2A86"/>
                </a:solidFill>
                <a:latin typeface="Helvetica"/>
              </a:rPr>
              <a:t>45.4%</a:t>
            </a:r>
          </a:p>
        </p:txBody>
      </p:sp>
      <p:sp>
        <p:nvSpPr>
          <p:cNvPr id="6" name="TextBox 5"/>
          <p:cNvSpPr txBox="1"/>
          <p:nvPr/>
        </p:nvSpPr>
        <p:spPr>
          <a:xfrm>
            <a:off x="9791700" y="2857500"/>
            <a:ext cx="4686300" cy="1047750"/>
          </a:xfrm>
          <a:prstGeom prst="rect">
            <a:avLst/>
          </a:prstGeom>
          <a:noFill/>
        </p:spPr>
        <p:txBody>
          <a:bodyPr wrap="square">
            <a:spAutoFit/>
          </a:bodyPr>
          <a:lstStyle/>
          <a:p>
            <a:r>
              <a:rPr sz="1575" b="1">
                <a:solidFill>
                  <a:srgbClr val="1D1B2F"/>
                </a:solidFill>
                <a:latin typeface="Helvetica"/>
              </a:rPr>
              <a:t>of loans with deposits reached a blocked account within 1-3 transfer hops</a:t>
            </a:r>
          </a:p>
        </p:txBody>
      </p:sp>
      <p:sp>
        <p:nvSpPr>
          <p:cNvPr id="7" name="TextBox 6"/>
          <p:cNvSpPr txBox="1"/>
          <p:nvPr/>
        </p:nvSpPr>
        <p:spPr>
          <a:xfrm>
            <a:off x="9791700" y="4095750"/>
            <a:ext cx="4686300" cy="3238500"/>
          </a:xfrm>
          <a:prstGeom prst="rect">
            <a:avLst/>
          </a:prstGeom>
          <a:noFill/>
        </p:spPr>
        <p:txBody>
          <a:bodyPr wrap="square">
            <a:spAutoFit/>
          </a:bodyPr>
          <a:lstStyle/>
          <a:p>
            <a:r>
              <a:rPr sz="1297" b="0">
                <a:solidFill>
                  <a:srgbClr val="5F5B73"/>
                </a:solidFill>
                <a:latin typeface="Helvetica"/>
              </a:rPr>
              <a:t>Loan proceeds are deposited to accounts first, and the graph then follows transfers that occur after the payout edge. Separately from the 87 loans paid directly to blocked-status payout accounts, 503 distinct loans reached 95 blocked-status accounts within one to three chronological transfer hops. This should be handled as exposure requiring review, not as proof of misuse, because the data contains status flags but not when those flags were applied.</a:t>
            </a:r>
          </a:p>
        </p:txBody>
      </p:sp>
      <p:sp>
        <p:nvSpPr>
          <p:cNvPr id="8" name="TextBox 7"/>
          <p:cNvSpPr txBox="1"/>
          <p:nvPr/>
        </p:nvSpPr>
        <p:spPr>
          <a:xfrm>
            <a:off x="762000" y="7620000"/>
            <a:ext cx="5715000" cy="285750"/>
          </a:xfrm>
          <a:prstGeom prst="rect">
            <a:avLst/>
          </a:prstGeom>
          <a:noFill/>
        </p:spPr>
        <p:txBody>
          <a:bodyPr wrap="square">
            <a:spAutoFit/>
          </a:bodyPr>
          <a:lstStyle/>
          <a:p>
            <a:r>
              <a:rPr sz="1125" b="0">
                <a:solidFill>
                  <a:srgbClr val="5F5B73"/>
                </a:solidFill>
                <a:latin typeface="Helvetica"/>
              </a:rPr>
              <a:t>Fig 3 · query in appendix A3</a:t>
            </a:r>
          </a:p>
        </p:txBody>
      </p:sp>
      <p:sp>
        <p:nvSpPr>
          <p:cNvPr id="9" name="TextBox 8"/>
          <p:cNvSpPr txBox="1"/>
          <p:nvPr/>
        </p:nvSpPr>
        <p:spPr>
          <a:xfrm>
            <a:off x="762000" y="8115300"/>
            <a:ext cx="11430000" cy="285750"/>
          </a:xfrm>
          <a:prstGeom prst="rect">
            <a:avLst/>
          </a:prstGeom>
          <a:noFill/>
        </p:spPr>
        <p:txBody>
          <a:bodyPr wrap="square">
            <a:spAutoFit/>
          </a:bodyPr>
          <a:lstStyle/>
          <a:p>
            <a:r>
              <a:rPr sz="1050" b="0">
                <a:solidFill>
                  <a:srgbClr val="5F5B73"/>
                </a:solidFill>
                <a:latin typeface="Helvetica"/>
              </a:rPr>
              <a:t>Synthetic LDBC FinBench data · queried through PuppyGraph</a:t>
            </a:r>
          </a:p>
        </p:txBody>
      </p:sp>
      <p:sp>
        <p:nvSpPr>
          <p:cNvPr id="10" name="TextBox 9"/>
          <p:cNvSpPr txBox="1"/>
          <p:nvPr/>
        </p:nvSpPr>
        <p:spPr>
          <a:xfrm>
            <a:off x="13716000" y="8115300"/>
            <a:ext cx="762000" cy="285750"/>
          </a:xfrm>
          <a:prstGeom prst="rect">
            <a:avLst/>
          </a:prstGeom>
          <a:noFill/>
        </p:spPr>
        <p:txBody>
          <a:bodyPr wrap="square">
            <a:spAutoFit/>
          </a:bodyPr>
          <a:lstStyle/>
          <a:p>
            <a:pPr algn="r"/>
            <a:r>
              <a:rPr sz="1050" b="0">
                <a:solidFill>
                  <a:srgbClr val="5F5B73"/>
                </a:solidFill>
                <a:latin typeface="Helvetica"/>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533400"/>
            <a:ext cx="13716000" cy="1047750"/>
          </a:xfrm>
          <a:prstGeom prst="rect">
            <a:avLst/>
          </a:prstGeom>
          <a:noFill/>
        </p:spPr>
        <p:txBody>
          <a:bodyPr wrap="square">
            <a:spAutoFit/>
          </a:bodyPr>
          <a:lstStyle/>
          <a:p>
            <a:r>
              <a:rPr sz="2437" b="1">
                <a:solidFill>
                  <a:srgbClr val="1D1B2F"/>
                </a:solidFill>
                <a:latin typeface="Helvetica"/>
              </a:rPr>
              <a:t>Guarantee chains expand credit exposure from 579 direct guarantees to 1,041 unique guarantor-to-borrower pairs within four hops.</a:t>
            </a:r>
          </a:p>
        </p:txBody>
      </p:sp>
      <p:sp>
        <p:nvSpPr>
          <p:cNvPr id="3" name="TextBox 2"/>
          <p:cNvSpPr txBox="1"/>
          <p:nvPr/>
        </p:nvSpPr>
        <p:spPr>
          <a:xfrm>
            <a:off x="762000" y="1714500"/>
            <a:ext cx="8572500" cy="285750"/>
          </a:xfrm>
          <a:prstGeom prst="rect">
            <a:avLst/>
          </a:prstGeom>
          <a:noFill/>
        </p:spPr>
        <p:txBody>
          <a:bodyPr wrap="square">
            <a:spAutoFit/>
          </a:bodyPr>
          <a:lstStyle/>
          <a:p>
            <a:r>
              <a:rPr sz="1425" b="1">
                <a:solidFill>
                  <a:srgbClr val="5F5B73"/>
                </a:solidFill>
                <a:latin typeface="Helvetica"/>
              </a:rPr>
              <a:t>Guarantee pairs by chain distance</a:t>
            </a:r>
          </a:p>
        </p:txBody>
      </p:sp>
      <p:graphicFrame>
        <p:nvGraphicFramePr>
          <p:cNvPr id="4" name="Chart 3"/>
          <p:cNvGraphicFramePr>
            <a:graphicFrameLocks noGrp="1"/>
          </p:cNvGraphicFramePr>
          <p:nvPr/>
        </p:nvGraphicFramePr>
        <p:xfrm>
          <a:off x="762000" y="2047875"/>
          <a:ext cx="8572500" cy="5334000"/>
        </p:xfrm>
        <a:graphic>
          <a:graphicData uri="http://schemas.openxmlformats.org/drawingml/2006/chart">
            <c:chart xmlns:c="http://schemas.openxmlformats.org/drawingml/2006/chart" r:id="rId2"/>
          </a:graphicData>
        </a:graphic>
      </p:graphicFrame>
      <p:sp>
        <p:nvSpPr>
          <p:cNvPr id="5" name="TextBox 4"/>
          <p:cNvSpPr txBox="1"/>
          <p:nvPr/>
        </p:nvSpPr>
        <p:spPr>
          <a:xfrm>
            <a:off x="9791700" y="2000250"/>
            <a:ext cx="4686300" cy="762000"/>
          </a:xfrm>
          <a:prstGeom prst="rect">
            <a:avLst/>
          </a:prstGeom>
          <a:noFill/>
        </p:spPr>
        <p:txBody>
          <a:bodyPr wrap="square">
            <a:spAutoFit/>
          </a:bodyPr>
          <a:lstStyle/>
          <a:p>
            <a:r>
              <a:rPr sz="4350" b="1">
                <a:solidFill>
                  <a:srgbClr val="5B2A86"/>
                </a:solidFill>
                <a:latin typeface="Helvetica"/>
              </a:rPr>
              <a:t>1.8x</a:t>
            </a:r>
          </a:p>
        </p:txBody>
      </p:sp>
      <p:sp>
        <p:nvSpPr>
          <p:cNvPr id="6" name="TextBox 5"/>
          <p:cNvSpPr txBox="1"/>
          <p:nvPr/>
        </p:nvSpPr>
        <p:spPr>
          <a:xfrm>
            <a:off x="9791700" y="2857500"/>
            <a:ext cx="4686300" cy="1047750"/>
          </a:xfrm>
          <a:prstGeom prst="rect">
            <a:avLst/>
          </a:prstGeom>
          <a:noFill/>
        </p:spPr>
        <p:txBody>
          <a:bodyPr wrap="square">
            <a:spAutoFit/>
          </a:bodyPr>
          <a:lstStyle/>
          <a:p>
            <a:r>
              <a:rPr sz="1575" b="1">
                <a:solidFill>
                  <a:srgbClr val="1D1B2F"/>
                </a:solidFill>
                <a:latin typeface="Helvetica"/>
              </a:rPr>
              <a:t>more unique exposure pairs than direct guarantees alone</a:t>
            </a:r>
          </a:p>
        </p:txBody>
      </p:sp>
      <p:sp>
        <p:nvSpPr>
          <p:cNvPr id="7" name="TextBox 6"/>
          <p:cNvSpPr txBox="1"/>
          <p:nvPr/>
        </p:nvSpPr>
        <p:spPr>
          <a:xfrm>
            <a:off x="9791700" y="4095750"/>
            <a:ext cx="4686300" cy="3238500"/>
          </a:xfrm>
          <a:prstGeom prst="rect">
            <a:avLst/>
          </a:prstGeom>
          <a:noFill/>
        </p:spPr>
        <p:txBody>
          <a:bodyPr wrap="square">
            <a:spAutoFit/>
          </a:bodyPr>
          <a:lstStyle/>
          <a:p>
            <a:r>
              <a:rPr sz="1350" b="0">
                <a:solidFill>
                  <a:srgbClr val="5F5B73"/>
                </a:solidFill>
                <a:latin typeface="Helvetica"/>
              </a:rPr>
              <a:t>Guarantee relationships are not only bilateral; they chain through people and through companies. The direct layer has 377 person guarantee pairs and 202 company guarantee pairs, but the 1-4 hop network has 702 unique person pairs and 339 unique company pairs. Loan linkage through these chains produced 1,282 guarantor-loan links, showing how credit exposure can spread beyond the named borrower-guarantor row.</a:t>
            </a:r>
          </a:p>
        </p:txBody>
      </p:sp>
      <p:sp>
        <p:nvSpPr>
          <p:cNvPr id="8" name="TextBox 7"/>
          <p:cNvSpPr txBox="1"/>
          <p:nvPr/>
        </p:nvSpPr>
        <p:spPr>
          <a:xfrm>
            <a:off x="762000" y="7620000"/>
            <a:ext cx="5715000" cy="285750"/>
          </a:xfrm>
          <a:prstGeom prst="rect">
            <a:avLst/>
          </a:prstGeom>
          <a:noFill/>
        </p:spPr>
        <p:txBody>
          <a:bodyPr wrap="square">
            <a:spAutoFit/>
          </a:bodyPr>
          <a:lstStyle/>
          <a:p>
            <a:r>
              <a:rPr sz="1125" b="0">
                <a:solidFill>
                  <a:srgbClr val="5F5B73"/>
                </a:solidFill>
                <a:latin typeface="Helvetica"/>
              </a:rPr>
              <a:t>Fig 4 · query in appendix A4</a:t>
            </a:r>
          </a:p>
        </p:txBody>
      </p:sp>
      <p:sp>
        <p:nvSpPr>
          <p:cNvPr id="9" name="TextBox 8"/>
          <p:cNvSpPr txBox="1"/>
          <p:nvPr/>
        </p:nvSpPr>
        <p:spPr>
          <a:xfrm>
            <a:off x="762000" y="8115300"/>
            <a:ext cx="11430000" cy="285750"/>
          </a:xfrm>
          <a:prstGeom prst="rect">
            <a:avLst/>
          </a:prstGeom>
          <a:noFill/>
        </p:spPr>
        <p:txBody>
          <a:bodyPr wrap="square">
            <a:spAutoFit/>
          </a:bodyPr>
          <a:lstStyle/>
          <a:p>
            <a:r>
              <a:rPr sz="1050" b="0">
                <a:solidFill>
                  <a:srgbClr val="5F5B73"/>
                </a:solidFill>
                <a:latin typeface="Helvetica"/>
              </a:rPr>
              <a:t>Synthetic LDBC FinBench data · queried through PuppyGraph</a:t>
            </a:r>
          </a:p>
        </p:txBody>
      </p:sp>
      <p:sp>
        <p:nvSpPr>
          <p:cNvPr id="10" name="TextBox 9"/>
          <p:cNvSpPr txBox="1"/>
          <p:nvPr/>
        </p:nvSpPr>
        <p:spPr>
          <a:xfrm>
            <a:off x="13716000" y="8115300"/>
            <a:ext cx="762000" cy="285750"/>
          </a:xfrm>
          <a:prstGeom prst="rect">
            <a:avLst/>
          </a:prstGeom>
          <a:noFill/>
        </p:spPr>
        <p:txBody>
          <a:bodyPr wrap="square">
            <a:spAutoFit/>
          </a:bodyPr>
          <a:lstStyle/>
          <a:p>
            <a:pPr algn="r"/>
            <a:r>
              <a:rPr sz="1050" b="0">
                <a:solidFill>
                  <a:srgbClr val="5F5B73"/>
                </a:solidFill>
                <a:latin typeface="Helvetica"/>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533400"/>
            <a:ext cx="13716000" cy="666750"/>
          </a:xfrm>
          <a:prstGeom prst="rect">
            <a:avLst/>
          </a:prstGeom>
          <a:noFill/>
        </p:spPr>
        <p:txBody>
          <a:bodyPr wrap="square">
            <a:spAutoFit/>
          </a:bodyPr>
          <a:lstStyle/>
          <a:p>
            <a:r>
              <a:rPr sz="3300" b="1">
                <a:solidFill>
                  <a:srgbClr val="1D1B2F"/>
                </a:solidFill>
                <a:latin typeface="Helvetica"/>
              </a:rPr>
              <a:t>5 moves that cut the most connected risk</a:t>
            </a:r>
          </a:p>
        </p:txBody>
      </p:sp>
      <p:sp>
        <p:nvSpPr>
          <p:cNvPr id="3" name="Oval 2"/>
          <p:cNvSpPr/>
          <p:nvPr/>
        </p:nvSpPr>
        <p:spPr>
          <a:xfrm>
            <a:off x="762000" y="1581150"/>
            <a:ext cx="457200" cy="457200"/>
          </a:xfrm>
          <a:prstGeom prst="ellipse">
            <a:avLst/>
          </a:prstGeom>
          <a:solidFill>
            <a:srgbClr val="5B2A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t>1</a:t>
            </a:r>
          </a:p>
        </p:txBody>
      </p:sp>
      <p:sp>
        <p:nvSpPr>
          <p:cNvPr id="4" name="TextBox 3"/>
          <p:cNvSpPr txBox="1"/>
          <p:nvPr/>
        </p:nvSpPr>
        <p:spPr>
          <a:xfrm>
            <a:off x="1524000" y="1600200"/>
            <a:ext cx="4381500" cy="1162050"/>
          </a:xfrm>
          <a:prstGeom prst="rect">
            <a:avLst/>
          </a:prstGeom>
          <a:noFill/>
        </p:spPr>
        <p:txBody>
          <a:bodyPr wrap="square">
            <a:spAutoFit/>
          </a:bodyPr>
          <a:lstStyle/>
          <a:p>
            <a:r>
              <a:rPr sz="1725" b="1">
                <a:solidFill>
                  <a:srgbClr val="1D1B2F"/>
                </a:solidFill>
                <a:latin typeface="Helvetica"/>
              </a:rPr>
              <a:t>Create a graph-based review queue for blocked-device neighborhoods</a:t>
            </a:r>
          </a:p>
        </p:txBody>
      </p:sp>
      <p:sp>
        <p:nvSpPr>
          <p:cNvPr id="5" name="TextBox 4"/>
          <p:cNvSpPr txBox="1"/>
          <p:nvPr/>
        </p:nvSpPr>
        <p:spPr>
          <a:xfrm>
            <a:off x="6191250" y="1600200"/>
            <a:ext cx="8286750" cy="1162050"/>
          </a:xfrm>
          <a:prstGeom prst="rect">
            <a:avLst/>
          </a:prstGeom>
          <a:noFill/>
        </p:spPr>
        <p:txBody>
          <a:bodyPr wrap="square">
            <a:spAutoFit/>
          </a:bodyPr>
          <a:lstStyle/>
          <a:p>
            <a:r>
              <a:rPr sz="1312" b="0">
                <a:solidFill>
                  <a:srgbClr val="5F5B73"/>
                </a:solidFill>
                <a:latin typeface="Helvetica"/>
              </a:rPr>
              <a:t>Start with accounts used by blocked media, then add one- to three-hop chronological recipients and their person or company owners. Prioritize cases where the reachable account is also blocked or participates in a loan trail or round-trip loop.</a:t>
            </a:r>
          </a:p>
        </p:txBody>
      </p:sp>
      <p:sp>
        <p:nvSpPr>
          <p:cNvPr id="6" name="Oval 5"/>
          <p:cNvSpPr/>
          <p:nvPr/>
        </p:nvSpPr>
        <p:spPr>
          <a:xfrm>
            <a:off x="762000" y="2838450"/>
            <a:ext cx="457200" cy="457200"/>
          </a:xfrm>
          <a:prstGeom prst="ellipse">
            <a:avLst/>
          </a:prstGeom>
          <a:solidFill>
            <a:srgbClr val="5B2A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t>2</a:t>
            </a:r>
          </a:p>
        </p:txBody>
      </p:sp>
      <p:sp>
        <p:nvSpPr>
          <p:cNvPr id="7" name="TextBox 6"/>
          <p:cNvSpPr txBox="1"/>
          <p:nvPr/>
        </p:nvSpPr>
        <p:spPr>
          <a:xfrm>
            <a:off x="1524000" y="2857500"/>
            <a:ext cx="4381500" cy="1162050"/>
          </a:xfrm>
          <a:prstGeom prst="rect">
            <a:avLst/>
          </a:prstGeom>
          <a:noFill/>
        </p:spPr>
        <p:txBody>
          <a:bodyPr wrap="square">
            <a:spAutoFit/>
          </a:bodyPr>
          <a:lstStyle/>
          <a:p>
            <a:r>
              <a:rPr sz="1725" b="1">
                <a:solidFill>
                  <a:srgbClr val="1D1B2F"/>
                </a:solidFill>
                <a:latin typeface="Helvetica"/>
              </a:rPr>
              <a:t>Add timed loop detection to transaction monitoring</a:t>
            </a:r>
          </a:p>
        </p:txBody>
      </p:sp>
      <p:sp>
        <p:nvSpPr>
          <p:cNvPr id="8" name="TextBox 7"/>
          <p:cNvSpPr txBox="1"/>
          <p:nvPr/>
        </p:nvSpPr>
        <p:spPr>
          <a:xfrm>
            <a:off x="6191250" y="2857500"/>
            <a:ext cx="8286750" cy="1162050"/>
          </a:xfrm>
          <a:prstGeom prst="rect">
            <a:avLst/>
          </a:prstGeom>
          <a:noFill/>
        </p:spPr>
        <p:txBody>
          <a:bodyPr wrap="square">
            <a:spAutoFit/>
          </a:bodyPr>
          <a:lstStyle/>
          <a:p>
            <a:r>
              <a:rPr sz="1350" b="0">
                <a:solidFill>
                  <a:srgbClr val="5F5B73"/>
                </a:solidFill>
                <a:latin typeface="Helvetica"/>
              </a:rPr>
              <a:t>Flag two- to four-hop transfer paths that return to the starting account with strictly increasing create_time values. Use the graph result as an investigative lead rather than as a standalone alert disposition.</a:t>
            </a:r>
          </a:p>
        </p:txBody>
      </p:sp>
      <p:sp>
        <p:nvSpPr>
          <p:cNvPr id="9" name="Oval 8"/>
          <p:cNvSpPr/>
          <p:nvPr/>
        </p:nvSpPr>
        <p:spPr>
          <a:xfrm>
            <a:off x="762000" y="4095750"/>
            <a:ext cx="457200" cy="457200"/>
          </a:xfrm>
          <a:prstGeom prst="ellipse">
            <a:avLst/>
          </a:prstGeom>
          <a:solidFill>
            <a:srgbClr val="5B2A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t>3</a:t>
            </a:r>
          </a:p>
        </p:txBody>
      </p:sp>
      <p:sp>
        <p:nvSpPr>
          <p:cNvPr id="10" name="TextBox 9"/>
          <p:cNvSpPr txBox="1"/>
          <p:nvPr/>
        </p:nvSpPr>
        <p:spPr>
          <a:xfrm>
            <a:off x="1524000" y="4114800"/>
            <a:ext cx="4381500" cy="1162050"/>
          </a:xfrm>
          <a:prstGeom prst="rect">
            <a:avLst/>
          </a:prstGeom>
          <a:noFill/>
        </p:spPr>
        <p:txBody>
          <a:bodyPr wrap="square">
            <a:spAutoFit/>
          </a:bodyPr>
          <a:lstStyle/>
          <a:p>
            <a:r>
              <a:rPr sz="1725" b="1">
                <a:solidFill>
                  <a:srgbClr val="1D1B2F"/>
                </a:solidFill>
                <a:latin typeface="Helvetica"/>
              </a:rPr>
              <a:t>Monitor loan-proceeds movement after payout</a:t>
            </a:r>
          </a:p>
        </p:txBody>
      </p:sp>
      <p:sp>
        <p:nvSpPr>
          <p:cNvPr id="11" name="TextBox 10"/>
          <p:cNvSpPr txBox="1"/>
          <p:nvPr/>
        </p:nvSpPr>
        <p:spPr>
          <a:xfrm>
            <a:off x="6191250" y="4114800"/>
            <a:ext cx="8286750" cy="1162050"/>
          </a:xfrm>
          <a:prstGeom prst="rect">
            <a:avLst/>
          </a:prstGeom>
          <a:noFill/>
        </p:spPr>
        <p:txBody>
          <a:bodyPr wrap="square">
            <a:spAutoFit/>
          </a:bodyPr>
          <a:lstStyle/>
          <a:p>
            <a:r>
              <a:rPr sz="1350" b="0">
                <a:solidFill>
                  <a:srgbClr val="5F5B73"/>
                </a:solidFill>
                <a:latin typeface="Helvetica"/>
              </a:rPr>
              <a:t>For each loan deposit, follow subsequent transfers by create_time and identify downstream blocked-status accounts within three hops. This covers exposure that is invisible if the bank reviews only the payout account.</a:t>
            </a:r>
          </a:p>
        </p:txBody>
      </p:sp>
      <p:sp>
        <p:nvSpPr>
          <p:cNvPr id="12" name="Oval 11"/>
          <p:cNvSpPr/>
          <p:nvPr/>
        </p:nvSpPr>
        <p:spPr>
          <a:xfrm>
            <a:off x="762000" y="5353050"/>
            <a:ext cx="457200" cy="457200"/>
          </a:xfrm>
          <a:prstGeom prst="ellipse">
            <a:avLst/>
          </a:prstGeom>
          <a:solidFill>
            <a:srgbClr val="5B2A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t>4</a:t>
            </a:r>
          </a:p>
        </p:txBody>
      </p:sp>
      <p:sp>
        <p:nvSpPr>
          <p:cNvPr id="13" name="TextBox 12"/>
          <p:cNvSpPr txBox="1"/>
          <p:nvPr/>
        </p:nvSpPr>
        <p:spPr>
          <a:xfrm>
            <a:off x="1524000" y="5372100"/>
            <a:ext cx="4381500" cy="1162050"/>
          </a:xfrm>
          <a:prstGeom prst="rect">
            <a:avLst/>
          </a:prstGeom>
          <a:noFill/>
        </p:spPr>
        <p:txBody>
          <a:bodyPr wrap="square">
            <a:spAutoFit/>
          </a:bodyPr>
          <a:lstStyle/>
          <a:p>
            <a:r>
              <a:rPr sz="1725" b="1">
                <a:solidFill>
                  <a:srgbClr val="1D1B2F"/>
                </a:solidFill>
                <a:latin typeface="Helvetica"/>
              </a:rPr>
              <a:t>Include guarantee-chain expansion in credit concentration review</a:t>
            </a:r>
          </a:p>
        </p:txBody>
      </p:sp>
      <p:sp>
        <p:nvSpPr>
          <p:cNvPr id="14" name="TextBox 13"/>
          <p:cNvSpPr txBox="1"/>
          <p:nvPr/>
        </p:nvSpPr>
        <p:spPr>
          <a:xfrm>
            <a:off x="6191250" y="5372100"/>
            <a:ext cx="8286750" cy="1162050"/>
          </a:xfrm>
          <a:prstGeom prst="rect">
            <a:avLst/>
          </a:prstGeom>
          <a:noFill/>
        </p:spPr>
        <p:txBody>
          <a:bodyPr wrap="square">
            <a:spAutoFit/>
          </a:bodyPr>
          <a:lstStyle/>
          <a:p>
            <a:r>
              <a:rPr sz="1305" b="0">
                <a:solidFill>
                  <a:srgbClr val="5F5B73"/>
                </a:solidFill>
                <a:latin typeface="Helvetica"/>
              </a:rPr>
              <a:t>Treat direct guarantees and indirect 2-4 hop chains as separate concentration views. For borrowers with active credit exposure, summarize guarantor-to-loan links so underwriters can see where one guarantor's exposure spreads through the network.</a:t>
            </a:r>
          </a:p>
        </p:txBody>
      </p:sp>
      <p:sp>
        <p:nvSpPr>
          <p:cNvPr id="15" name="Oval 14"/>
          <p:cNvSpPr/>
          <p:nvPr/>
        </p:nvSpPr>
        <p:spPr>
          <a:xfrm>
            <a:off x="762000" y="6610350"/>
            <a:ext cx="457200" cy="457200"/>
          </a:xfrm>
          <a:prstGeom prst="ellipse">
            <a:avLst/>
          </a:prstGeom>
          <a:solidFill>
            <a:srgbClr val="5B2A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t>5</a:t>
            </a:r>
          </a:p>
        </p:txBody>
      </p:sp>
      <p:sp>
        <p:nvSpPr>
          <p:cNvPr id="16" name="TextBox 15"/>
          <p:cNvSpPr txBox="1"/>
          <p:nvPr/>
        </p:nvSpPr>
        <p:spPr>
          <a:xfrm>
            <a:off x="1524000" y="6629400"/>
            <a:ext cx="4381500" cy="1162050"/>
          </a:xfrm>
          <a:prstGeom prst="rect">
            <a:avLst/>
          </a:prstGeom>
          <a:noFill/>
        </p:spPr>
        <p:txBody>
          <a:bodyPr wrap="square">
            <a:spAutoFit/>
          </a:bodyPr>
          <a:lstStyle/>
          <a:p>
            <a:r>
              <a:rPr sz="1725" b="1">
                <a:solidFill>
                  <a:srgbClr val="1D1B2F"/>
                </a:solidFill>
                <a:latin typeface="Helvetica"/>
              </a:rPr>
              <a:t>Preserve status-timing limitations in policy and reporting</a:t>
            </a:r>
          </a:p>
        </p:txBody>
      </p:sp>
      <p:sp>
        <p:nvSpPr>
          <p:cNvPr id="17" name="TextBox 16"/>
          <p:cNvSpPr txBox="1"/>
          <p:nvPr/>
        </p:nvSpPr>
        <p:spPr>
          <a:xfrm>
            <a:off x="6191250" y="6629400"/>
            <a:ext cx="8286750" cy="1162050"/>
          </a:xfrm>
          <a:prstGeom prst="rect">
            <a:avLst/>
          </a:prstGeom>
          <a:noFill/>
        </p:spPr>
        <p:txBody>
          <a:bodyPr wrap="square">
            <a:spAutoFit/>
          </a:bodyPr>
          <a:lstStyle/>
          <a:p>
            <a:r>
              <a:rPr sz="1342" b="0">
                <a:solidFill>
                  <a:srgbClr val="5F5B73"/>
                </a:solidFill>
                <a:latin typeface="Helvetica"/>
              </a:rPr>
              <a:t>Because this data provides blocked flags but not block-effective timestamps, reporting should avoid claims about whether activity occurred before or after a block. Use the flags to define review populations, not to infer wrongdoing.</a:t>
            </a:r>
          </a:p>
        </p:txBody>
      </p:sp>
      <p:sp>
        <p:nvSpPr>
          <p:cNvPr id="18" name="TextBox 17"/>
          <p:cNvSpPr txBox="1"/>
          <p:nvPr/>
        </p:nvSpPr>
        <p:spPr>
          <a:xfrm>
            <a:off x="762000" y="8115300"/>
            <a:ext cx="11430000" cy="285750"/>
          </a:xfrm>
          <a:prstGeom prst="rect">
            <a:avLst/>
          </a:prstGeom>
          <a:noFill/>
        </p:spPr>
        <p:txBody>
          <a:bodyPr wrap="square">
            <a:spAutoFit/>
          </a:bodyPr>
          <a:lstStyle/>
          <a:p>
            <a:r>
              <a:rPr sz="1050" b="0">
                <a:solidFill>
                  <a:srgbClr val="5F5B73"/>
                </a:solidFill>
                <a:latin typeface="Helvetica"/>
              </a:rPr>
              <a:t>Synthetic LDBC FinBench data · queried through PuppyGraph</a:t>
            </a:r>
          </a:p>
        </p:txBody>
      </p:sp>
      <p:sp>
        <p:nvSpPr>
          <p:cNvPr id="19" name="TextBox 18"/>
          <p:cNvSpPr txBox="1"/>
          <p:nvPr/>
        </p:nvSpPr>
        <p:spPr>
          <a:xfrm>
            <a:off x="13716000" y="8115300"/>
            <a:ext cx="762000" cy="285750"/>
          </a:xfrm>
          <a:prstGeom prst="rect">
            <a:avLst/>
          </a:prstGeom>
          <a:noFill/>
        </p:spPr>
        <p:txBody>
          <a:bodyPr wrap="square">
            <a:spAutoFit/>
          </a:bodyPr>
          <a:lstStyle/>
          <a:p>
            <a:pPr algn="r"/>
            <a:r>
              <a:rPr sz="1050" b="0">
                <a:solidFill>
                  <a:srgbClr val="5F5B73"/>
                </a:solidFill>
                <a:latin typeface="Helvetica"/>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5240000" cy="8572500"/>
          </a:xfrm>
          <a:prstGeom prst="rect">
            <a:avLst/>
          </a:prstGeom>
          <a:solidFill>
            <a:srgbClr val="F4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2000" y="2857500"/>
            <a:ext cx="12382500" cy="857250"/>
          </a:xfrm>
          <a:prstGeom prst="rect">
            <a:avLst/>
          </a:prstGeom>
          <a:noFill/>
        </p:spPr>
        <p:txBody>
          <a:bodyPr wrap="square">
            <a:spAutoFit/>
          </a:bodyPr>
          <a:lstStyle/>
          <a:p>
            <a:r>
              <a:rPr sz="4200" b="1">
                <a:solidFill>
                  <a:srgbClr val="5B2A86"/>
                </a:solidFill>
                <a:latin typeface="Helvetica"/>
              </a:rPr>
              <a:t>Appendix: how every number was derived</a:t>
            </a:r>
          </a:p>
        </p:txBody>
      </p:sp>
      <p:sp>
        <p:nvSpPr>
          <p:cNvPr id="4" name="TextBox 3"/>
          <p:cNvSpPr txBox="1"/>
          <p:nvPr/>
        </p:nvSpPr>
        <p:spPr>
          <a:xfrm>
            <a:off x="762000" y="4000500"/>
            <a:ext cx="10477500" cy="1333500"/>
          </a:xfrm>
          <a:prstGeom prst="rect">
            <a:avLst/>
          </a:prstGeom>
          <a:noFill/>
        </p:spPr>
        <p:txBody>
          <a:bodyPr wrap="square">
            <a:spAutoFit/>
          </a:bodyPr>
          <a:lstStyle/>
          <a:p>
            <a:r>
              <a:rPr sz="1650" b="0">
                <a:solidFill>
                  <a:srgbClr val="5F5B73"/>
                </a:solidFill>
                <a:latin typeface="Helvetica"/>
              </a:rPr>
              <a:t>All numbers come from read-only openCypher queries run in this session against the PuppyGraph graph, through PuppyGraph's MCP server. Percentages are derived explicitly from query results.</a:t>
            </a:r>
          </a:p>
        </p:txBody>
      </p:sp>
      <p:sp>
        <p:nvSpPr>
          <p:cNvPr id="5" name="TextBox 4"/>
          <p:cNvSpPr txBox="1"/>
          <p:nvPr/>
        </p:nvSpPr>
        <p:spPr>
          <a:xfrm>
            <a:off x="762000" y="8115300"/>
            <a:ext cx="11430000" cy="285750"/>
          </a:xfrm>
          <a:prstGeom prst="rect">
            <a:avLst/>
          </a:prstGeom>
          <a:noFill/>
        </p:spPr>
        <p:txBody>
          <a:bodyPr wrap="square">
            <a:spAutoFit/>
          </a:bodyPr>
          <a:lstStyle/>
          <a:p>
            <a:r>
              <a:rPr sz="1050" b="0">
                <a:solidFill>
                  <a:srgbClr val="5F5B73"/>
                </a:solidFill>
                <a:latin typeface="Helvetica"/>
              </a:rPr>
              <a:t>Appendix · Synthetic LDBC FinBench data · queried through PuppyGraph</a:t>
            </a:r>
          </a:p>
        </p:txBody>
      </p:sp>
      <p:sp>
        <p:nvSpPr>
          <p:cNvPr id="6" name="TextBox 5"/>
          <p:cNvSpPr txBox="1"/>
          <p:nvPr/>
        </p:nvSpPr>
        <p:spPr>
          <a:xfrm>
            <a:off x="13716000" y="8115300"/>
            <a:ext cx="762000" cy="285750"/>
          </a:xfrm>
          <a:prstGeom prst="rect">
            <a:avLst/>
          </a:prstGeom>
          <a:noFill/>
        </p:spPr>
        <p:txBody>
          <a:bodyPr wrap="square">
            <a:spAutoFit/>
          </a:bodyPr>
          <a:lstStyle/>
          <a:p>
            <a:pPr algn="r"/>
            <a:r>
              <a:rPr sz="1050" b="0">
                <a:solidFill>
                  <a:srgbClr val="5F5B73"/>
                </a:solidFill>
                <a:latin typeface="Helvetica"/>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533400"/>
            <a:ext cx="13716000" cy="571500"/>
          </a:xfrm>
          <a:prstGeom prst="rect">
            <a:avLst/>
          </a:prstGeom>
          <a:noFill/>
        </p:spPr>
        <p:txBody>
          <a:bodyPr wrap="square">
            <a:spAutoFit/>
          </a:bodyPr>
          <a:lstStyle/>
          <a:p>
            <a:r>
              <a:rPr sz="2700" b="1">
                <a:solidFill>
                  <a:srgbClr val="1D1B2F"/>
                </a:solidFill>
                <a:latin typeface="Helvetica"/>
              </a:rPr>
              <a:t>A0 · The graph and the assumptions</a:t>
            </a:r>
          </a:p>
        </p:txBody>
      </p:sp>
      <p:sp>
        <p:nvSpPr>
          <p:cNvPr id="3" name="TextBox 2"/>
          <p:cNvSpPr txBox="1"/>
          <p:nvPr/>
        </p:nvSpPr>
        <p:spPr>
          <a:xfrm>
            <a:off x="762000" y="1238250"/>
            <a:ext cx="13716000" cy="6667500"/>
          </a:xfrm>
          <a:prstGeom prst="rect">
            <a:avLst/>
          </a:prstGeom>
          <a:noFill/>
        </p:spPr>
        <p:txBody>
          <a:bodyPr wrap="square">
            <a:spAutoFit/>
          </a:bodyPr>
          <a:lstStyle/>
          <a:p>
            <a:r>
              <a:rPr sz="1275" b="0">
                <a:solidFill>
                  <a:srgbClr val="1D1B2F"/>
                </a:solidFill>
                <a:latin typeface="Helvetica"/>
              </a:rPr>
              <a:t>Graph</a:t>
            </a:r>
          </a:p>
          <a:p>
            <a:r>
              <a:rPr sz="1275" b="0">
                <a:solidFill>
                  <a:srgbClr val="1D1B2F"/>
                </a:solidFill>
                <a:latin typeface="Helvetica"/>
              </a:rPr>
              <a:t>Nodes used: Person, Company, Account, Loan and Medium. Edges used: MEDIUM_SIGNS_IN_ACCOUNT, ACCOUNT_TRANSFERS_ACCOUNT, LOAN_DEPOSITS_ACCOUNT, PERSON_OWNS_ACCOUNT, COMPANY_OWNS_ACCOUNT, PERSON_APPLIES_LOAN, COMPANY_APPLIES_LOAN, PERSON_GUARANTEES_PERSON and COMPANY_GUARANTEES_COMPANY.</a:t>
            </a:r>
          </a:p>
          <a:p/>
          <a:p>
            <a:r>
              <a:rPr sz="1275" b="0">
                <a:solidFill>
                  <a:srgbClr val="1D1B2F"/>
                </a:solidFill>
                <a:latin typeface="Helvetica"/>
              </a:rPr>
              <a:t>Key paths</a:t>
            </a:r>
          </a:p>
          <a:p>
            <a:r>
              <a:rPr sz="1275" b="0">
                <a:solidFill>
                  <a:srgbClr val="1D1B2F"/>
                </a:solidFill>
                <a:latin typeface="Helvetica"/>
              </a:rPr>
              <a:t>Blocked-device money trail: (:Medium {is_blocked:true})-[:MEDIUM_SIGNS_IN_ACCOUNT]-&gt;(:Account)-[:ACCOUNT_TRANSFERS_ACCOUNT*1..3]-&gt;(:Account), with each transfer create_time later than the prior hop. Round-tripping: (:Account)-[:ACCOUNT_TRANSFERS_ACCOUNT]-&gt;...-&gt;same starting account, again ordered by create_time. Loan trail: (:Loan)-[:LOAN_DEPOSITS_ACCOUNT]-&gt;(:Account)-[:ACCOUNT_TRANSFERS_ACCOUNT*1..3]-&gt;(:Account {is_blocked:true}), with transfers after payout. Guarantee chain: (:Person)-[:PERSON_GUARANTEES_PERSON*1..4]-&gt;(:Person)-[:PERSON_APPLIES_LOAN]-&gt;(:Loan) and the analogous company path.</a:t>
            </a:r>
          </a:p>
          <a:p/>
          <a:p>
            <a:r>
              <a:rPr sz="1275" b="0">
                <a:solidFill>
                  <a:srgbClr val="1D1B2F"/>
                </a:solidFill>
                <a:latin typeface="Helvetica"/>
              </a:rPr>
              <a:t>Baselines</a:t>
            </a:r>
          </a:p>
          <a:p>
            <a:r>
              <a:rPr sz="1275" b="0">
                <a:solidFill>
                  <a:srgbClr val="1D1B2F"/>
                </a:solidFill>
                <a:latin typeface="Helvetica"/>
              </a:rPr>
              <a:t>Queried baselines: 2,055 accounts; 117 blocked-status accounts; 978 media; 54 blocked-status media; 8,132 account-transfer edges with 40,680,128,381.51 synthetic total amount; 1,376 loans with 68,288,413,124 synthetic loan amount and balance. Loan-deposit baseline: 1,107 loans with deposits, 2,758 deposit edges, 906 payout accounts and 43,962,419,206.80 synthetic deposited amount.</a:t>
            </a:r>
          </a:p>
          <a:p/>
          <a:p>
            <a:r>
              <a:rPr sz="1275" b="0">
                <a:solidFill>
                  <a:srgbClr val="1D1B2F"/>
                </a:solidFill>
                <a:latin typeface="Helvetica"/>
              </a:rPr>
              <a:t>Assumptions and caveats</a:t>
            </a:r>
          </a:p>
          <a:p>
            <a:r>
              <a:rPr sz="1275" b="0">
                <a:solidFill>
                  <a:srgbClr val="1D1B2F"/>
                </a:solidFill>
                <a:latin typeface="Helvetica"/>
              </a:rPr>
              <a:t>• Blocked is interpreted only as a status flag for review population selection, not as proof of fraud.</a:t>
            </a:r>
          </a:p>
          <a:p>
            <a:r>
              <a:rPr sz="1275" b="0">
                <a:solidFill>
                  <a:srgbClr val="1D1B2F"/>
                </a:solidFill>
                <a:latin typeface="Helvetica"/>
              </a:rPr>
              <a:t>• The data does not include block-effective timestamps, so no conclusion is drawn about whether activity occurred before or after a block.</a:t>
            </a:r>
          </a:p>
          <a:p>
            <a:r>
              <a:rPr sz="1275" b="0">
                <a:solidFill>
                  <a:srgbClr val="1D1B2F"/>
                </a:solidFill>
                <a:latin typeface="Helvetica"/>
              </a:rPr>
              <a:t>• Transfers are considered a money trail only when each hop's create_time is strictly greater than the previous hop's create_time.</a:t>
            </a:r>
          </a:p>
          <a:p>
            <a:r>
              <a:rPr sz="1275" b="0">
                <a:solidFill>
                  <a:srgbClr val="1D1B2F"/>
                </a:solidFill>
                <a:latin typeface="Helvetica"/>
              </a:rPr>
              <a:t>• Exact-hop counts can overlap across hop distances; separate union queries are used when the briefing states unique 1-3 or 1-4 hop totals.</a:t>
            </a:r>
          </a:p>
          <a:p>
            <a:r>
              <a:rPr sz="1275" b="0">
                <a:solidFill>
                  <a:srgbClr val="1D1B2F"/>
                </a:solidFill>
                <a:latin typeface="Helvetica"/>
              </a:rPr>
              <a:t>• Synthetic amounts are reported as totals returned by the queries and are secondary to counts and ratios.</a:t>
            </a:r>
          </a:p>
        </p:txBody>
      </p:sp>
      <p:sp>
        <p:nvSpPr>
          <p:cNvPr id="4" name="TextBox 3"/>
          <p:cNvSpPr txBox="1"/>
          <p:nvPr/>
        </p:nvSpPr>
        <p:spPr>
          <a:xfrm>
            <a:off x="762000" y="8115300"/>
            <a:ext cx="11430000" cy="285750"/>
          </a:xfrm>
          <a:prstGeom prst="rect">
            <a:avLst/>
          </a:prstGeom>
          <a:noFill/>
        </p:spPr>
        <p:txBody>
          <a:bodyPr wrap="square">
            <a:spAutoFit/>
          </a:bodyPr>
          <a:lstStyle/>
          <a:p>
            <a:r>
              <a:rPr sz="1050" b="0">
                <a:solidFill>
                  <a:srgbClr val="5F5B73"/>
                </a:solidFill>
                <a:latin typeface="Helvetica"/>
              </a:rPr>
              <a:t>Appendix · Synthetic LDBC FinBench data · queried through PuppyGraph</a:t>
            </a:r>
          </a:p>
        </p:txBody>
      </p:sp>
      <p:sp>
        <p:nvSpPr>
          <p:cNvPr id="5" name="TextBox 4"/>
          <p:cNvSpPr txBox="1"/>
          <p:nvPr/>
        </p:nvSpPr>
        <p:spPr>
          <a:xfrm>
            <a:off x="13716000" y="8115300"/>
            <a:ext cx="762000" cy="285750"/>
          </a:xfrm>
          <a:prstGeom prst="rect">
            <a:avLst/>
          </a:prstGeom>
          <a:noFill/>
        </p:spPr>
        <p:txBody>
          <a:bodyPr wrap="square">
            <a:spAutoFit/>
          </a:bodyPr>
          <a:lstStyle/>
          <a:p>
            <a:pPr algn="r"/>
            <a:r>
              <a:rPr sz="1050" b="0">
                <a:solidFill>
                  <a:srgbClr val="5F5B73"/>
                </a:solidFill>
                <a:latin typeface="Helvetica"/>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533400"/>
            <a:ext cx="13716000" cy="571500"/>
          </a:xfrm>
          <a:prstGeom prst="rect">
            <a:avLst/>
          </a:prstGeom>
          <a:noFill/>
        </p:spPr>
        <p:txBody>
          <a:bodyPr wrap="square">
            <a:spAutoFit/>
          </a:bodyPr>
          <a:lstStyle/>
          <a:p>
            <a:r>
              <a:rPr sz="2250" b="1">
                <a:solidFill>
                  <a:srgbClr val="1D1B2F"/>
                </a:solidFill>
                <a:latin typeface="Helvetica"/>
              </a:rPr>
              <a:t>A1 · Fig 1: Accounts in the blocked-device transfer neighborhood</a:t>
            </a:r>
          </a:p>
        </p:txBody>
      </p:sp>
      <p:sp>
        <p:nvSpPr>
          <p:cNvPr id="3" name="TextBox 2"/>
          <p:cNvSpPr txBox="1"/>
          <p:nvPr/>
        </p:nvSpPr>
        <p:spPr>
          <a:xfrm>
            <a:off x="762000" y="1238250"/>
            <a:ext cx="8953500" cy="6667500"/>
          </a:xfrm>
          <a:prstGeom prst="rect">
            <a:avLst/>
          </a:prstGeom>
          <a:noFill/>
        </p:spPr>
        <p:txBody>
          <a:bodyPr wrap="square">
            <a:spAutoFit/>
          </a:bodyPr>
          <a:lstStyle/>
          <a:p>
            <a:r>
              <a:rPr sz="1200" b="0">
                <a:solidFill>
                  <a:srgbClr val="1D1B2F"/>
                </a:solidFill>
                <a:latin typeface="Menlo"/>
              </a:rPr>
              <a:t>Seed accounts and sign-in baseline</a:t>
            </a:r>
          </a:p>
          <a:p>
            <a:r>
              <a:rPr sz="1200" b="0">
                <a:solidFill>
                  <a:srgbClr val="1D1B2F"/>
                </a:solidFill>
                <a:latin typeface="Menlo"/>
              </a:rPr>
              <a:t>MATCH (m:Medium {is_blocked: true})-[s:MEDIUM_SIGNS_IN_ACCOUNT]-&gt;(a:Account)</a:t>
            </a:r>
          </a:p>
          <a:p>
            <a:r>
              <a:rPr sz="1200" b="0">
                <a:solidFill>
                  <a:srgbClr val="1D1B2F"/>
                </a:solidFill>
                <a:latin typeface="Menlo"/>
              </a:rPr>
              <a:t>WITH count(DISTINCT a) AS seed_accounts, count(DISTINCT m) AS blocked_media_with_signin, count(s) AS signins_from_blocked_media</a:t>
            </a:r>
          </a:p>
          <a:p>
            <a:r>
              <a:rPr sz="1200" b="0">
                <a:solidFill>
                  <a:srgbClr val="1D1B2F"/>
                </a:solidFill>
                <a:latin typeface="Menlo"/>
              </a:rPr>
              <a:t>MATCH (m2:Medium)-[:MEDIUM_SIGNS_IN_ACCOUNT]-&gt;(anyAcct:Account)</a:t>
            </a:r>
          </a:p>
          <a:p>
            <a:r>
              <a:rPr sz="1200" b="0">
                <a:solidFill>
                  <a:srgbClr val="1D1B2F"/>
                </a:solidFill>
                <a:latin typeface="Menlo"/>
              </a:rPr>
              <a:t>RETURN seed_accounts, blocked_media_with_signin, signins_from_blocked_media, count(DISTINCT anyAcct) AS all_signed_in_accounts, count(DISTINCT m2) AS all_media</a:t>
            </a:r>
          </a:p>
          <a:p>
            <a:r>
              <a:rPr sz="1200" b="0">
                <a:solidFill>
                  <a:srgbClr val="1D1B2F"/>
                </a:solidFill>
                <a:latin typeface="Menlo"/>
              </a:rPr>
              <a:t>LIMIT 1</a:t>
            </a:r>
          </a:p>
        </p:txBody>
      </p:sp>
      <p:sp>
        <p:nvSpPr>
          <p:cNvPr id="4" name="TextBox 3"/>
          <p:cNvSpPr txBox="1"/>
          <p:nvPr/>
        </p:nvSpPr>
        <p:spPr>
          <a:xfrm>
            <a:off x="10058400" y="1238250"/>
            <a:ext cx="4419600" cy="285750"/>
          </a:xfrm>
          <a:prstGeom prst="rect">
            <a:avLst/>
          </a:prstGeom>
          <a:noFill/>
        </p:spPr>
        <p:txBody>
          <a:bodyPr wrap="square">
            <a:spAutoFit/>
          </a:bodyPr>
          <a:lstStyle/>
          <a:p>
            <a:r>
              <a:rPr sz="1350" b="1">
                <a:solidFill>
                  <a:srgbClr val="5B2A86"/>
                </a:solidFill>
                <a:latin typeface="Helvetica"/>
              </a:rPr>
              <a:t>Results and derivation</a:t>
            </a:r>
          </a:p>
        </p:txBody>
      </p:sp>
      <p:sp>
        <p:nvSpPr>
          <p:cNvPr id="5" name="TextBox 4"/>
          <p:cNvSpPr txBox="1"/>
          <p:nvPr/>
        </p:nvSpPr>
        <p:spPr>
          <a:xfrm>
            <a:off x="10058400" y="1581150"/>
            <a:ext cx="4419600" cy="6286500"/>
          </a:xfrm>
          <a:prstGeom prst="rect">
            <a:avLst/>
          </a:prstGeom>
          <a:noFill/>
        </p:spPr>
        <p:txBody>
          <a:bodyPr wrap="square">
            <a:spAutoFit/>
          </a:bodyPr>
          <a:lstStyle/>
          <a:p>
            <a:r>
              <a:rPr sz="1275" b="0">
                <a:solidFill>
                  <a:srgbClr val="1D1B2F"/>
                </a:solidFill>
                <a:latin typeface="Helvetica"/>
              </a:rPr>
              <a:t>Seed query returned 41 seed accounts, 31 blocked media with sign-ins, 172 sign-in edges from blocked media, 536 accounts with any sign-in and 480 media with sign-ins. Exact-hop query returned 102 accounts at 1 hop, 169 at 2 hops and 218 at 3 hops. Union query returned 418 unique 1-3 hop accounts and 27 blocked-status accounts; 418 / 2,055 total accounts = 20.3%, and 27 / 418 = 6.5%. Owner query returned 217 person owners and 136 company owners, summed as 353 owner records across owner types.</a:t>
            </a:r>
          </a:p>
        </p:txBody>
      </p:sp>
      <p:sp>
        <p:nvSpPr>
          <p:cNvPr id="6" name="TextBox 5"/>
          <p:cNvSpPr txBox="1"/>
          <p:nvPr/>
        </p:nvSpPr>
        <p:spPr>
          <a:xfrm>
            <a:off x="762000" y="8115300"/>
            <a:ext cx="11430000" cy="285750"/>
          </a:xfrm>
          <a:prstGeom prst="rect">
            <a:avLst/>
          </a:prstGeom>
          <a:noFill/>
        </p:spPr>
        <p:txBody>
          <a:bodyPr wrap="square">
            <a:spAutoFit/>
          </a:bodyPr>
          <a:lstStyle/>
          <a:p>
            <a:r>
              <a:rPr sz="1050" b="0">
                <a:solidFill>
                  <a:srgbClr val="5F5B73"/>
                </a:solidFill>
                <a:latin typeface="Helvetica"/>
              </a:rPr>
              <a:t>Appendix · Synthetic LDBC FinBench data · queried through PuppyGraph</a:t>
            </a:r>
          </a:p>
        </p:txBody>
      </p:sp>
      <p:sp>
        <p:nvSpPr>
          <p:cNvPr id="7" name="TextBox 6"/>
          <p:cNvSpPr txBox="1"/>
          <p:nvPr/>
        </p:nvSpPr>
        <p:spPr>
          <a:xfrm>
            <a:off x="13716000" y="8115300"/>
            <a:ext cx="762000" cy="285750"/>
          </a:xfrm>
          <a:prstGeom prst="rect">
            <a:avLst/>
          </a:prstGeom>
          <a:noFill/>
        </p:spPr>
        <p:txBody>
          <a:bodyPr wrap="square">
            <a:spAutoFit/>
          </a:bodyPr>
          <a:lstStyle/>
          <a:p>
            <a:pPr algn="r"/>
            <a:r>
              <a:rPr sz="1050" b="0">
                <a:solidFill>
                  <a:srgbClr val="5F5B73"/>
                </a:solidFill>
                <a:latin typeface="Helvetica"/>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533400"/>
            <a:ext cx="13716000" cy="571500"/>
          </a:xfrm>
          <a:prstGeom prst="rect">
            <a:avLst/>
          </a:prstGeom>
          <a:noFill/>
        </p:spPr>
        <p:txBody>
          <a:bodyPr wrap="square">
            <a:spAutoFit/>
          </a:bodyPr>
          <a:lstStyle/>
          <a:p>
            <a:r>
              <a:rPr sz="2250" b="1">
                <a:solidFill>
                  <a:srgbClr val="1D1B2F"/>
                </a:solidFill>
                <a:latin typeface="Helvetica"/>
              </a:rPr>
              <a:t>A1 · Fig 1: Accounts in the blocked-device transfer neighborhood (continued, 2/4)</a:t>
            </a:r>
          </a:p>
        </p:txBody>
      </p:sp>
      <p:sp>
        <p:nvSpPr>
          <p:cNvPr id="3" name="TextBox 2"/>
          <p:cNvSpPr txBox="1"/>
          <p:nvPr/>
        </p:nvSpPr>
        <p:spPr>
          <a:xfrm>
            <a:off x="762000" y="1238250"/>
            <a:ext cx="13716000" cy="6667500"/>
          </a:xfrm>
          <a:prstGeom prst="rect">
            <a:avLst/>
          </a:prstGeom>
          <a:noFill/>
        </p:spPr>
        <p:txBody>
          <a:bodyPr wrap="square">
            <a:spAutoFit/>
          </a:bodyPr>
          <a:lstStyle/>
          <a:p>
            <a:r>
              <a:rPr sz="1200" b="0">
                <a:solidFill>
                  <a:srgbClr val="1D1B2F"/>
                </a:solidFill>
                <a:latin typeface="Menlo"/>
              </a:rPr>
              <a:t>Exact-hop recipients with chronological transfer order</a:t>
            </a:r>
          </a:p>
          <a:p>
            <a:r>
              <a:rPr sz="1200" b="0">
                <a:solidFill>
                  <a:srgbClr val="1D1B2F"/>
                </a:solidFill>
                <a:latin typeface="Menlo"/>
              </a:rPr>
              <a:t>CALL {</a:t>
            </a:r>
          </a:p>
          <a:p>
            <a:r>
              <a:rPr sz="1200" b="0">
                <a:solidFill>
                  <a:srgbClr val="1D1B2F"/>
                </a:solidFill>
                <a:latin typeface="Menlo"/>
              </a:rPr>
              <a:t>  MATCH (m:Medium {is_blocked: true})-[:MEDIUM_SIGNS_IN_ACCOUNT]-&gt;(seed:Account)</a:t>
            </a:r>
          </a:p>
          <a:p>
            <a:r>
              <a:rPr sz="1200" b="0">
                <a:solidFill>
                  <a:srgbClr val="1D1B2F"/>
                </a:solidFill>
                <a:latin typeface="Menlo"/>
              </a:rPr>
              <a:t>  WITH DISTINCT seed</a:t>
            </a:r>
          </a:p>
          <a:p>
            <a:r>
              <a:rPr sz="1200" b="0">
                <a:solidFill>
                  <a:srgbClr val="1D1B2F"/>
                </a:solidFill>
                <a:latin typeface="Menlo"/>
              </a:rPr>
              <a:t>  MATCH (seed)-[t1:ACCOUNT_TRANSFERS_ACCOUNT]-&gt;(r:Account)</a:t>
            </a:r>
          </a:p>
          <a:p>
            <a:r>
              <a:rPr sz="1200" b="0">
                <a:solidFill>
                  <a:srgbClr val="1D1B2F"/>
                </a:solidFill>
                <a:latin typeface="Menlo"/>
              </a:rPr>
              <a:t>  RETURN 1 AS hop, id(r) AS rid</a:t>
            </a:r>
          </a:p>
          <a:p>
            <a:r>
              <a:rPr sz="1200" b="0">
                <a:solidFill>
                  <a:srgbClr val="1D1B2F"/>
                </a:solidFill>
                <a:latin typeface="Menlo"/>
              </a:rPr>
              <a:t>  UNION</a:t>
            </a:r>
          </a:p>
          <a:p>
            <a:r>
              <a:rPr sz="1200" b="0">
                <a:solidFill>
                  <a:srgbClr val="1D1B2F"/>
                </a:solidFill>
                <a:latin typeface="Menlo"/>
              </a:rPr>
              <a:t>  MATCH (m:Medium {is_blocked: true})-[:MEDIUM_SIGNS_IN_ACCOUNT]-&gt;(seed:Account)</a:t>
            </a:r>
          </a:p>
          <a:p>
            <a:r>
              <a:rPr sz="1200" b="0">
                <a:solidFill>
                  <a:srgbClr val="1D1B2F"/>
                </a:solidFill>
                <a:latin typeface="Menlo"/>
              </a:rPr>
              <a:t>  WITH DISTINCT seed</a:t>
            </a:r>
          </a:p>
          <a:p>
            <a:r>
              <a:rPr sz="1200" b="0">
                <a:solidFill>
                  <a:srgbClr val="1D1B2F"/>
                </a:solidFill>
                <a:latin typeface="Menlo"/>
              </a:rPr>
              <a:t>  MATCH (seed)-[t1:ACCOUNT_TRANSFERS_ACCOUNT]-&gt;(:Account)-[t2:ACCOUNT_TRANSFERS_ACCOUNT]-&gt;(r:Account)</a:t>
            </a:r>
          </a:p>
          <a:p>
            <a:r>
              <a:rPr sz="1200" b="0">
                <a:solidFill>
                  <a:srgbClr val="1D1B2F"/>
                </a:solidFill>
                <a:latin typeface="Menlo"/>
              </a:rPr>
              <a:t>  WHERE t2.create_time &gt; t1.create_time</a:t>
            </a:r>
          </a:p>
          <a:p>
            <a:r>
              <a:rPr sz="1200" b="0">
                <a:solidFill>
                  <a:srgbClr val="1D1B2F"/>
                </a:solidFill>
                <a:latin typeface="Menlo"/>
              </a:rPr>
              <a:t>  RETURN 2 AS hop, id(r) AS rid</a:t>
            </a:r>
          </a:p>
          <a:p>
            <a:r>
              <a:rPr sz="1200" b="0">
                <a:solidFill>
                  <a:srgbClr val="1D1B2F"/>
                </a:solidFill>
                <a:latin typeface="Menlo"/>
              </a:rPr>
              <a:t>  UNION</a:t>
            </a:r>
          </a:p>
          <a:p>
            <a:r>
              <a:rPr sz="1200" b="0">
                <a:solidFill>
                  <a:srgbClr val="1D1B2F"/>
                </a:solidFill>
                <a:latin typeface="Menlo"/>
              </a:rPr>
              <a:t>  MATCH (m:Medium {is_blocked: true})-[:MEDIUM_SIGNS_IN_ACCOUNT]-&gt;(seed:Account)</a:t>
            </a:r>
          </a:p>
          <a:p>
            <a:r>
              <a:rPr sz="1200" b="0">
                <a:solidFill>
                  <a:srgbClr val="1D1B2F"/>
                </a:solidFill>
                <a:latin typeface="Menlo"/>
              </a:rPr>
              <a:t>  WITH DISTINCT seed</a:t>
            </a:r>
          </a:p>
          <a:p>
            <a:r>
              <a:rPr sz="1200" b="0">
                <a:solidFill>
                  <a:srgbClr val="1D1B2F"/>
                </a:solidFill>
                <a:latin typeface="Menlo"/>
              </a:rPr>
              <a:t>  MATCH (seed)-[t1:ACCOUNT_TRANSFERS_ACCOUNT]-&gt;(:Account)-[t2:ACCOUNT_TRANSFERS_ACCOUNT]-&gt;(:Account)-[t3:ACCOUNT_TRANSFERS_ACCOUNT]-&gt;(r:Account)</a:t>
            </a:r>
          </a:p>
          <a:p>
            <a:r>
              <a:rPr sz="1200" b="0">
                <a:solidFill>
                  <a:srgbClr val="1D1B2F"/>
                </a:solidFill>
                <a:latin typeface="Menlo"/>
              </a:rPr>
              <a:t>  WHERE t2.create_time &gt; t1.create_time AND t3.create_time &gt; t2.create_time</a:t>
            </a:r>
          </a:p>
          <a:p>
            <a:r>
              <a:rPr sz="1200" b="0">
                <a:solidFill>
                  <a:srgbClr val="1D1B2F"/>
                </a:solidFill>
                <a:latin typeface="Menlo"/>
              </a:rPr>
              <a:t>  RETURN 3 AS hop, id(r) AS rid</a:t>
            </a:r>
          </a:p>
          <a:p>
            <a:r>
              <a:rPr sz="1200" b="0">
                <a:solidFill>
                  <a:srgbClr val="1D1B2F"/>
                </a:solidFill>
                <a:latin typeface="Menlo"/>
              </a:rPr>
              <a:t>}</a:t>
            </a:r>
          </a:p>
          <a:p>
            <a:r>
              <a:rPr sz="1200" b="0">
                <a:solidFill>
                  <a:srgbClr val="1D1B2F"/>
                </a:solidFill>
                <a:latin typeface="Menlo"/>
              </a:rPr>
              <a:t>WITH hop, rid</a:t>
            </a:r>
          </a:p>
          <a:p>
            <a:r>
              <a:rPr sz="1200" b="0">
                <a:solidFill>
                  <a:srgbClr val="1D1B2F"/>
                </a:solidFill>
                <a:latin typeface="Menlo"/>
              </a:rPr>
              <a:t>WITH hop, count(DISTINCT rid) AS accounts</a:t>
            </a:r>
          </a:p>
          <a:p>
            <a:r>
              <a:rPr sz="1200" b="0">
                <a:solidFill>
                  <a:srgbClr val="1D1B2F"/>
                </a:solidFill>
                <a:latin typeface="Menlo"/>
              </a:rPr>
              <a:t>RETURN hop, accounts</a:t>
            </a:r>
          </a:p>
          <a:p>
            <a:r>
              <a:rPr sz="1200" b="0">
                <a:solidFill>
                  <a:srgbClr val="1D1B2F"/>
                </a:solidFill>
                <a:latin typeface="Menlo"/>
              </a:rPr>
              <a:t>ORDER BY hop</a:t>
            </a:r>
          </a:p>
        </p:txBody>
      </p:sp>
      <p:sp>
        <p:nvSpPr>
          <p:cNvPr id="4" name="TextBox 3"/>
          <p:cNvSpPr txBox="1"/>
          <p:nvPr/>
        </p:nvSpPr>
        <p:spPr>
          <a:xfrm>
            <a:off x="762000" y="8115300"/>
            <a:ext cx="11430000" cy="285750"/>
          </a:xfrm>
          <a:prstGeom prst="rect">
            <a:avLst/>
          </a:prstGeom>
          <a:noFill/>
        </p:spPr>
        <p:txBody>
          <a:bodyPr wrap="square">
            <a:spAutoFit/>
          </a:bodyPr>
          <a:lstStyle/>
          <a:p>
            <a:r>
              <a:rPr sz="1050" b="0">
                <a:solidFill>
                  <a:srgbClr val="5F5B73"/>
                </a:solidFill>
                <a:latin typeface="Helvetica"/>
              </a:rPr>
              <a:t>Appendix · Synthetic LDBC FinBench data · queried through PuppyGraph</a:t>
            </a:r>
          </a:p>
        </p:txBody>
      </p:sp>
      <p:sp>
        <p:nvSpPr>
          <p:cNvPr id="5" name="TextBox 4"/>
          <p:cNvSpPr txBox="1"/>
          <p:nvPr/>
        </p:nvSpPr>
        <p:spPr>
          <a:xfrm>
            <a:off x="13716000" y="8115300"/>
            <a:ext cx="762000" cy="285750"/>
          </a:xfrm>
          <a:prstGeom prst="rect">
            <a:avLst/>
          </a:prstGeom>
          <a:noFill/>
        </p:spPr>
        <p:txBody>
          <a:bodyPr wrap="square">
            <a:spAutoFit/>
          </a:bodyPr>
          <a:lstStyle/>
          <a:p>
            <a:pPr algn="r"/>
            <a:r>
              <a:rPr sz="1050" b="0">
                <a:solidFill>
                  <a:srgbClr val="5F5B73"/>
                </a:solidFill>
                <a:latin typeface="Helvetica"/>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533400"/>
            <a:ext cx="13716000" cy="571500"/>
          </a:xfrm>
          <a:prstGeom prst="rect">
            <a:avLst/>
          </a:prstGeom>
          <a:noFill/>
        </p:spPr>
        <p:txBody>
          <a:bodyPr wrap="square">
            <a:spAutoFit/>
          </a:bodyPr>
          <a:lstStyle/>
          <a:p>
            <a:r>
              <a:rPr sz="2250" b="1">
                <a:solidFill>
                  <a:srgbClr val="1D1B2F"/>
                </a:solidFill>
                <a:latin typeface="Helvetica"/>
              </a:rPr>
              <a:t>A1 · Fig 1: Accounts in the blocked-device transfer neighborhood (continued, 3/4)</a:t>
            </a:r>
          </a:p>
        </p:txBody>
      </p:sp>
      <p:sp>
        <p:nvSpPr>
          <p:cNvPr id="3" name="TextBox 2"/>
          <p:cNvSpPr txBox="1"/>
          <p:nvPr/>
        </p:nvSpPr>
        <p:spPr>
          <a:xfrm>
            <a:off x="762000" y="1238250"/>
            <a:ext cx="13716000" cy="6667500"/>
          </a:xfrm>
          <a:prstGeom prst="rect">
            <a:avLst/>
          </a:prstGeom>
          <a:noFill/>
        </p:spPr>
        <p:txBody>
          <a:bodyPr wrap="square">
            <a:spAutoFit/>
          </a:bodyPr>
          <a:lstStyle/>
          <a:p>
            <a:r>
              <a:rPr sz="1200" b="0">
                <a:solidFill>
                  <a:srgbClr val="1D1B2F"/>
                </a:solidFill>
                <a:latin typeface="Menlo"/>
              </a:rPr>
              <a:t>Unique 1-3 hop accounts and blocked-status subset</a:t>
            </a:r>
          </a:p>
          <a:p>
            <a:r>
              <a:rPr sz="1200" b="0">
                <a:solidFill>
                  <a:srgbClr val="1D1B2F"/>
                </a:solidFill>
                <a:latin typeface="Menlo"/>
              </a:rPr>
              <a:t>CALL {</a:t>
            </a:r>
          </a:p>
          <a:p>
            <a:r>
              <a:rPr sz="1200" b="0">
                <a:solidFill>
                  <a:srgbClr val="1D1B2F"/>
                </a:solidFill>
                <a:latin typeface="Menlo"/>
              </a:rPr>
              <a:t>  MATCH (m:Medium {is_blocked: true})-[:MEDIUM_SIGNS_IN_ACCOUNT]-&gt;(seed:Account)</a:t>
            </a:r>
          </a:p>
          <a:p>
            <a:r>
              <a:rPr sz="1200" b="0">
                <a:solidFill>
                  <a:srgbClr val="1D1B2F"/>
                </a:solidFill>
                <a:latin typeface="Menlo"/>
              </a:rPr>
              <a:t>  WITH DISTINCT seed</a:t>
            </a:r>
          </a:p>
          <a:p>
            <a:r>
              <a:rPr sz="1200" b="0">
                <a:solidFill>
                  <a:srgbClr val="1D1B2F"/>
                </a:solidFill>
                <a:latin typeface="Menlo"/>
              </a:rPr>
              <a:t>  MATCH (seed)-[t1:ACCOUNT_TRANSFERS_ACCOUNT]-&gt;(r:Account)</a:t>
            </a:r>
          </a:p>
          <a:p>
            <a:r>
              <a:rPr sz="1200" b="0">
                <a:solidFill>
                  <a:srgbClr val="1D1B2F"/>
                </a:solidFill>
                <a:latin typeface="Menlo"/>
              </a:rPr>
              <a:t>  RETURN id(r) AS rid, CASE WHEN r.is_blocked THEN 1 ELSE 0 END AS blocked</a:t>
            </a:r>
          </a:p>
          <a:p>
            <a:r>
              <a:rPr sz="1200" b="0">
                <a:solidFill>
                  <a:srgbClr val="1D1B2F"/>
                </a:solidFill>
                <a:latin typeface="Menlo"/>
              </a:rPr>
              <a:t>  UNION</a:t>
            </a:r>
          </a:p>
          <a:p>
            <a:r>
              <a:rPr sz="1200" b="0">
                <a:solidFill>
                  <a:srgbClr val="1D1B2F"/>
                </a:solidFill>
                <a:latin typeface="Menlo"/>
              </a:rPr>
              <a:t>  MATCH (m:Medium {is_blocked: true})-[:MEDIUM_SIGNS_IN_ACCOUNT]-&gt;(seed:Account)</a:t>
            </a:r>
          </a:p>
          <a:p>
            <a:r>
              <a:rPr sz="1200" b="0">
                <a:solidFill>
                  <a:srgbClr val="1D1B2F"/>
                </a:solidFill>
                <a:latin typeface="Menlo"/>
              </a:rPr>
              <a:t>  WITH DISTINCT seed</a:t>
            </a:r>
          </a:p>
          <a:p>
            <a:r>
              <a:rPr sz="1200" b="0">
                <a:solidFill>
                  <a:srgbClr val="1D1B2F"/>
                </a:solidFill>
                <a:latin typeface="Menlo"/>
              </a:rPr>
              <a:t>  MATCH (seed)-[t1:ACCOUNT_TRANSFERS_ACCOUNT]-&gt;(:Account)-[t2:ACCOUNT_TRANSFERS_ACCOUNT]-&gt;(r:Account)</a:t>
            </a:r>
          </a:p>
          <a:p>
            <a:r>
              <a:rPr sz="1200" b="0">
                <a:solidFill>
                  <a:srgbClr val="1D1B2F"/>
                </a:solidFill>
                <a:latin typeface="Menlo"/>
              </a:rPr>
              <a:t>  WHERE t2.create_time &gt; t1.create_time</a:t>
            </a:r>
          </a:p>
          <a:p>
            <a:r>
              <a:rPr sz="1200" b="0">
                <a:solidFill>
                  <a:srgbClr val="1D1B2F"/>
                </a:solidFill>
                <a:latin typeface="Menlo"/>
              </a:rPr>
              <a:t>  RETURN id(r) AS rid, CASE WHEN r.is_blocked THEN 1 ELSE 0 END AS blocked</a:t>
            </a:r>
          </a:p>
          <a:p>
            <a:r>
              <a:rPr sz="1200" b="0">
                <a:solidFill>
                  <a:srgbClr val="1D1B2F"/>
                </a:solidFill>
                <a:latin typeface="Menlo"/>
              </a:rPr>
              <a:t>  UNION</a:t>
            </a:r>
          </a:p>
          <a:p>
            <a:r>
              <a:rPr sz="1200" b="0">
                <a:solidFill>
                  <a:srgbClr val="1D1B2F"/>
                </a:solidFill>
                <a:latin typeface="Menlo"/>
              </a:rPr>
              <a:t>  MATCH (m:Medium {is_blocked: true})-[:MEDIUM_SIGNS_IN_ACCOUNT]-&gt;(seed:Account)</a:t>
            </a:r>
          </a:p>
          <a:p>
            <a:r>
              <a:rPr sz="1200" b="0">
                <a:solidFill>
                  <a:srgbClr val="1D1B2F"/>
                </a:solidFill>
                <a:latin typeface="Menlo"/>
              </a:rPr>
              <a:t>  WITH DISTINCT seed</a:t>
            </a:r>
          </a:p>
          <a:p>
            <a:r>
              <a:rPr sz="1200" b="0">
                <a:solidFill>
                  <a:srgbClr val="1D1B2F"/>
                </a:solidFill>
                <a:latin typeface="Menlo"/>
              </a:rPr>
              <a:t>  MATCH (seed)-[t1:ACCOUNT_TRANSFERS_ACCOUNT]-&gt;(:Account)-[t2:ACCOUNT_TRANSFERS_ACCOUNT]-&gt;(:Account)-[t3:ACCOUNT_TRANSFERS_ACCOUNT]-&gt;(r:Account)</a:t>
            </a:r>
          </a:p>
          <a:p>
            <a:r>
              <a:rPr sz="1200" b="0">
                <a:solidFill>
                  <a:srgbClr val="1D1B2F"/>
                </a:solidFill>
                <a:latin typeface="Menlo"/>
              </a:rPr>
              <a:t>  WHERE t2.create_time &gt; t1.create_time AND t3.create_time &gt; t2.create_time</a:t>
            </a:r>
          </a:p>
          <a:p>
            <a:r>
              <a:rPr sz="1200" b="0">
                <a:solidFill>
                  <a:srgbClr val="1D1B2F"/>
                </a:solidFill>
                <a:latin typeface="Menlo"/>
              </a:rPr>
              <a:t>  RETURN id(r) AS rid, CASE WHEN r.is_blocked THEN 1 ELSE 0 END AS blocked</a:t>
            </a:r>
          </a:p>
          <a:p>
            <a:r>
              <a:rPr sz="1200" b="0">
                <a:solidFill>
                  <a:srgbClr val="1D1B2F"/>
                </a:solidFill>
                <a:latin typeface="Menlo"/>
              </a:rPr>
              <a:t>}</a:t>
            </a:r>
          </a:p>
          <a:p>
            <a:r>
              <a:rPr sz="1200" b="0">
                <a:solidFill>
                  <a:srgbClr val="1D1B2F"/>
                </a:solidFill>
                <a:latin typeface="Menlo"/>
              </a:rPr>
              <a:t>WITH rid, max(blocked) AS b</a:t>
            </a:r>
          </a:p>
          <a:p>
            <a:r>
              <a:rPr sz="1200" b="0">
                <a:solidFill>
                  <a:srgbClr val="1D1B2F"/>
                </a:solidFill>
                <a:latin typeface="Menlo"/>
              </a:rPr>
              <a:t>RETURN count(rid) AS reachable_1_to_3, sum(b) AS reachable_blocked_accounts</a:t>
            </a:r>
          </a:p>
          <a:p>
            <a:r>
              <a:rPr sz="1200" b="0">
                <a:solidFill>
                  <a:srgbClr val="1D1B2F"/>
                </a:solidFill>
                <a:latin typeface="Menlo"/>
              </a:rPr>
              <a:t>LIMIT 1</a:t>
            </a:r>
          </a:p>
        </p:txBody>
      </p:sp>
      <p:sp>
        <p:nvSpPr>
          <p:cNvPr id="4" name="TextBox 3"/>
          <p:cNvSpPr txBox="1"/>
          <p:nvPr/>
        </p:nvSpPr>
        <p:spPr>
          <a:xfrm>
            <a:off x="762000" y="8115300"/>
            <a:ext cx="11430000" cy="285750"/>
          </a:xfrm>
          <a:prstGeom prst="rect">
            <a:avLst/>
          </a:prstGeom>
          <a:noFill/>
        </p:spPr>
        <p:txBody>
          <a:bodyPr wrap="square">
            <a:spAutoFit/>
          </a:bodyPr>
          <a:lstStyle/>
          <a:p>
            <a:r>
              <a:rPr sz="1050" b="0">
                <a:solidFill>
                  <a:srgbClr val="5F5B73"/>
                </a:solidFill>
                <a:latin typeface="Helvetica"/>
              </a:rPr>
              <a:t>Appendix · Synthetic LDBC FinBench data · queried through PuppyGraph</a:t>
            </a:r>
          </a:p>
        </p:txBody>
      </p:sp>
      <p:sp>
        <p:nvSpPr>
          <p:cNvPr id="5" name="TextBox 4"/>
          <p:cNvSpPr txBox="1"/>
          <p:nvPr/>
        </p:nvSpPr>
        <p:spPr>
          <a:xfrm>
            <a:off x="13716000" y="8115300"/>
            <a:ext cx="762000" cy="285750"/>
          </a:xfrm>
          <a:prstGeom prst="rect">
            <a:avLst/>
          </a:prstGeom>
          <a:noFill/>
        </p:spPr>
        <p:txBody>
          <a:bodyPr wrap="square">
            <a:spAutoFit/>
          </a:bodyPr>
          <a:lstStyle/>
          <a:p>
            <a:pPr algn="r"/>
            <a:r>
              <a:rPr sz="1050" b="0">
                <a:solidFill>
                  <a:srgbClr val="5F5B73"/>
                </a:solidFill>
                <a:latin typeface="Helvetica"/>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533400"/>
            <a:ext cx="13716000" cy="571500"/>
          </a:xfrm>
          <a:prstGeom prst="rect">
            <a:avLst/>
          </a:prstGeom>
          <a:noFill/>
        </p:spPr>
        <p:txBody>
          <a:bodyPr wrap="square">
            <a:spAutoFit/>
          </a:bodyPr>
          <a:lstStyle/>
          <a:p>
            <a:r>
              <a:rPr sz="2250" b="1">
                <a:solidFill>
                  <a:srgbClr val="1D1B2F"/>
                </a:solidFill>
                <a:latin typeface="Helvetica"/>
              </a:rPr>
              <a:t>A1 · Fig 1: Accounts in the blocked-device transfer neighborhood (continued, 4/4)</a:t>
            </a:r>
          </a:p>
        </p:txBody>
      </p:sp>
      <p:sp>
        <p:nvSpPr>
          <p:cNvPr id="3" name="TextBox 2"/>
          <p:cNvSpPr txBox="1"/>
          <p:nvPr/>
        </p:nvSpPr>
        <p:spPr>
          <a:xfrm>
            <a:off x="762000" y="1238250"/>
            <a:ext cx="13716000" cy="6667500"/>
          </a:xfrm>
          <a:prstGeom prst="rect">
            <a:avLst/>
          </a:prstGeom>
          <a:noFill/>
        </p:spPr>
        <p:txBody>
          <a:bodyPr wrap="square">
            <a:spAutoFit/>
          </a:bodyPr>
          <a:lstStyle/>
          <a:p>
            <a:r>
              <a:rPr sz="825" b="0">
                <a:solidFill>
                  <a:srgbClr val="1D1B2F"/>
                </a:solidFill>
                <a:latin typeface="Menlo"/>
              </a:rPr>
              <a:t>Reachable account owners</a:t>
            </a:r>
          </a:p>
          <a:p>
            <a:r>
              <a:rPr sz="825" b="0">
                <a:solidFill>
                  <a:srgbClr val="1D1B2F"/>
                </a:solidFill>
                <a:latin typeface="Menlo"/>
              </a:rPr>
              <a:t>CALL {</a:t>
            </a:r>
          </a:p>
          <a:p>
            <a:r>
              <a:rPr sz="825" b="0">
                <a:solidFill>
                  <a:srgbClr val="1D1B2F"/>
                </a:solidFill>
                <a:latin typeface="Menlo"/>
              </a:rPr>
              <a:t>  MATCH (m:Medium {is_blocked: true})-[:MEDIUM_SIGNS_IN_ACCOUNT]-&gt;(seed:Account)</a:t>
            </a:r>
          </a:p>
          <a:p>
            <a:r>
              <a:rPr sz="825" b="0">
                <a:solidFill>
                  <a:srgbClr val="1D1B2F"/>
                </a:solidFill>
                <a:latin typeface="Menlo"/>
              </a:rPr>
              <a:t>  WITH DISTINCT seed</a:t>
            </a:r>
          </a:p>
          <a:p>
            <a:r>
              <a:rPr sz="825" b="0">
                <a:solidFill>
                  <a:srgbClr val="1D1B2F"/>
                </a:solidFill>
                <a:latin typeface="Menlo"/>
              </a:rPr>
              <a:t>  MATCH (seed)-[t1:ACCOUNT_TRANSFERS_ACCOUNT]-&gt;(r:Account)&lt;-[:PERSON_OWNS_ACCOUNT]-(p:Person)</a:t>
            </a:r>
          </a:p>
          <a:p>
            <a:r>
              <a:rPr sz="825" b="0">
                <a:solidFill>
                  <a:srgbClr val="1D1B2F"/>
                </a:solidFill>
                <a:latin typeface="Menlo"/>
              </a:rPr>
              <a:t>  RETURN 'person' AS owner_type, id(p) AS oid</a:t>
            </a:r>
          </a:p>
          <a:p>
            <a:r>
              <a:rPr sz="825" b="0">
                <a:solidFill>
                  <a:srgbClr val="1D1B2F"/>
                </a:solidFill>
                <a:latin typeface="Menlo"/>
              </a:rPr>
              <a:t>  UNION</a:t>
            </a:r>
          </a:p>
          <a:p>
            <a:r>
              <a:rPr sz="825" b="0">
                <a:solidFill>
                  <a:srgbClr val="1D1B2F"/>
                </a:solidFill>
                <a:latin typeface="Menlo"/>
              </a:rPr>
              <a:t>  MATCH (m:Medium {is_blocked: true})-[:MEDIUM_SIGNS_IN_ACCOUNT]-&gt;(seed:Account)</a:t>
            </a:r>
          </a:p>
          <a:p>
            <a:r>
              <a:rPr sz="825" b="0">
                <a:solidFill>
                  <a:srgbClr val="1D1B2F"/>
                </a:solidFill>
                <a:latin typeface="Menlo"/>
              </a:rPr>
              <a:t>  WITH DISTINCT seed</a:t>
            </a:r>
          </a:p>
          <a:p>
            <a:r>
              <a:rPr sz="825" b="0">
                <a:solidFill>
                  <a:srgbClr val="1D1B2F"/>
                </a:solidFill>
                <a:latin typeface="Menlo"/>
              </a:rPr>
              <a:t>  MATCH (seed)-[t1:ACCOUNT_TRANSFERS_ACCOUNT]-&gt;(:Account)-[t2:ACCOUNT_TRANSFERS_ACCOUNT]-&gt;(r:Account)&lt;-[:PERSON_OWNS_ACCOUNT]-(p:Person)</a:t>
            </a:r>
          </a:p>
          <a:p>
            <a:r>
              <a:rPr sz="825" b="0">
                <a:solidFill>
                  <a:srgbClr val="1D1B2F"/>
                </a:solidFill>
                <a:latin typeface="Menlo"/>
              </a:rPr>
              <a:t>  WHERE t2.create_time &gt; t1.create_time</a:t>
            </a:r>
          </a:p>
          <a:p>
            <a:r>
              <a:rPr sz="825" b="0">
                <a:solidFill>
                  <a:srgbClr val="1D1B2F"/>
                </a:solidFill>
                <a:latin typeface="Menlo"/>
              </a:rPr>
              <a:t>  RETURN 'person' AS owner_type, id(p) AS oid</a:t>
            </a:r>
          </a:p>
          <a:p>
            <a:r>
              <a:rPr sz="825" b="0">
                <a:solidFill>
                  <a:srgbClr val="1D1B2F"/>
                </a:solidFill>
                <a:latin typeface="Menlo"/>
              </a:rPr>
              <a:t>  UNION</a:t>
            </a:r>
          </a:p>
          <a:p>
            <a:r>
              <a:rPr sz="825" b="0">
                <a:solidFill>
                  <a:srgbClr val="1D1B2F"/>
                </a:solidFill>
                <a:latin typeface="Menlo"/>
              </a:rPr>
              <a:t>  MATCH (m:Medium {is_blocked: true})-[:MEDIUM_SIGNS_IN_ACCOUNT]-&gt;(seed:Account)</a:t>
            </a:r>
          </a:p>
          <a:p>
            <a:r>
              <a:rPr sz="825" b="0">
                <a:solidFill>
                  <a:srgbClr val="1D1B2F"/>
                </a:solidFill>
                <a:latin typeface="Menlo"/>
              </a:rPr>
              <a:t>  WITH DISTINCT seed</a:t>
            </a:r>
          </a:p>
          <a:p>
            <a:r>
              <a:rPr sz="825" b="0">
                <a:solidFill>
                  <a:srgbClr val="1D1B2F"/>
                </a:solidFill>
                <a:latin typeface="Menlo"/>
              </a:rPr>
              <a:t>  MATCH (seed)-[t1:ACCOUNT_TRANSFERS_ACCOUNT]-&gt;(:Account)-[t2:ACCOUNT_TRANSFERS_ACCOUNT]-&gt;(:Account)-[t3:ACCOUNT_TRANSFERS_ACCOUNT]-&gt;(r:Account)&lt;-[:PERSON_OWNS_ACCOUNT]-(p:Person)</a:t>
            </a:r>
          </a:p>
          <a:p>
            <a:r>
              <a:rPr sz="825" b="0">
                <a:solidFill>
                  <a:srgbClr val="1D1B2F"/>
                </a:solidFill>
                <a:latin typeface="Menlo"/>
              </a:rPr>
              <a:t>  WHERE t2.create_time &gt; t1.create_time AND t3.create_time &gt; t2.create_time</a:t>
            </a:r>
          </a:p>
          <a:p>
            <a:r>
              <a:rPr sz="825" b="0">
                <a:solidFill>
                  <a:srgbClr val="1D1B2F"/>
                </a:solidFill>
                <a:latin typeface="Menlo"/>
              </a:rPr>
              <a:t>  RETURN 'person' AS owner_type, id(p) AS oid</a:t>
            </a:r>
          </a:p>
          <a:p>
            <a:r>
              <a:rPr sz="825" b="0">
                <a:solidFill>
                  <a:srgbClr val="1D1B2F"/>
                </a:solidFill>
                <a:latin typeface="Menlo"/>
              </a:rPr>
              <a:t>  UNION</a:t>
            </a:r>
          </a:p>
          <a:p>
            <a:r>
              <a:rPr sz="825" b="0">
                <a:solidFill>
                  <a:srgbClr val="1D1B2F"/>
                </a:solidFill>
                <a:latin typeface="Menlo"/>
              </a:rPr>
              <a:t>  MATCH (m:Medium {is_blocked: true})-[:MEDIUM_SIGNS_IN_ACCOUNT]-&gt;(seed:Account)</a:t>
            </a:r>
          </a:p>
          <a:p>
            <a:r>
              <a:rPr sz="825" b="0">
                <a:solidFill>
                  <a:srgbClr val="1D1B2F"/>
                </a:solidFill>
                <a:latin typeface="Menlo"/>
              </a:rPr>
              <a:t>  WITH DISTINCT seed</a:t>
            </a:r>
          </a:p>
          <a:p>
            <a:r>
              <a:rPr sz="825" b="0">
                <a:solidFill>
                  <a:srgbClr val="1D1B2F"/>
                </a:solidFill>
                <a:latin typeface="Menlo"/>
              </a:rPr>
              <a:t>  MATCH (seed)-[t1:ACCOUNT_TRANSFERS_ACCOUNT]-&gt;(r:Account)&lt;-[:COMPANY_OWNS_ACCOUNT]-(c:Company)</a:t>
            </a:r>
          </a:p>
          <a:p>
            <a:r>
              <a:rPr sz="825" b="0">
                <a:solidFill>
                  <a:srgbClr val="1D1B2F"/>
                </a:solidFill>
                <a:latin typeface="Menlo"/>
              </a:rPr>
              <a:t>  RETURN 'company' AS owner_type, id(c) AS oid</a:t>
            </a:r>
          </a:p>
          <a:p>
            <a:r>
              <a:rPr sz="825" b="0">
                <a:solidFill>
                  <a:srgbClr val="1D1B2F"/>
                </a:solidFill>
                <a:latin typeface="Menlo"/>
              </a:rPr>
              <a:t>  UNION</a:t>
            </a:r>
          </a:p>
          <a:p>
            <a:r>
              <a:rPr sz="825" b="0">
                <a:solidFill>
                  <a:srgbClr val="1D1B2F"/>
                </a:solidFill>
                <a:latin typeface="Menlo"/>
              </a:rPr>
              <a:t>  MATCH (m:Medium {is_blocked: true})-[:MEDIUM_SIGNS_IN_ACCOUNT]-&gt;(seed:Account)</a:t>
            </a:r>
          </a:p>
          <a:p>
            <a:r>
              <a:rPr sz="825" b="0">
                <a:solidFill>
                  <a:srgbClr val="1D1B2F"/>
                </a:solidFill>
                <a:latin typeface="Menlo"/>
              </a:rPr>
              <a:t>  WITH DISTINCT seed</a:t>
            </a:r>
          </a:p>
          <a:p>
            <a:r>
              <a:rPr sz="825" b="0">
                <a:solidFill>
                  <a:srgbClr val="1D1B2F"/>
                </a:solidFill>
                <a:latin typeface="Menlo"/>
              </a:rPr>
              <a:t>  MATCH (seed)-[t1:ACCOUNT_TRANSFERS_ACCOUNT]-&gt;(:Account)-[t2:ACCOUNT_TRANSFERS_ACCOUNT]-&gt;(r:Account)&lt;-[:COMPANY_OWNS_ACCOUNT]-(c:Company)</a:t>
            </a:r>
          </a:p>
          <a:p>
            <a:r>
              <a:rPr sz="825" b="0">
                <a:solidFill>
                  <a:srgbClr val="1D1B2F"/>
                </a:solidFill>
                <a:latin typeface="Menlo"/>
              </a:rPr>
              <a:t>  WHERE t2.create_time &gt; t1.create_time</a:t>
            </a:r>
          </a:p>
          <a:p>
            <a:r>
              <a:rPr sz="825" b="0">
                <a:solidFill>
                  <a:srgbClr val="1D1B2F"/>
                </a:solidFill>
                <a:latin typeface="Menlo"/>
              </a:rPr>
              <a:t>  RETURN 'company' AS owner_type, id(c) AS oid</a:t>
            </a:r>
          </a:p>
          <a:p>
            <a:r>
              <a:rPr sz="825" b="0">
                <a:solidFill>
                  <a:srgbClr val="1D1B2F"/>
                </a:solidFill>
                <a:latin typeface="Menlo"/>
              </a:rPr>
              <a:t>  UNION</a:t>
            </a:r>
          </a:p>
          <a:p>
            <a:r>
              <a:rPr sz="825" b="0">
                <a:solidFill>
                  <a:srgbClr val="1D1B2F"/>
                </a:solidFill>
                <a:latin typeface="Menlo"/>
              </a:rPr>
              <a:t>  MATCH (m:Medium {is_blocked: true})-[:MEDIUM_SIGNS_IN_ACCOUNT]-&gt;(seed:Account)</a:t>
            </a:r>
          </a:p>
          <a:p>
            <a:r>
              <a:rPr sz="825" b="0">
                <a:solidFill>
                  <a:srgbClr val="1D1B2F"/>
                </a:solidFill>
                <a:latin typeface="Menlo"/>
              </a:rPr>
              <a:t>  WITH DISTINCT seed</a:t>
            </a:r>
          </a:p>
          <a:p>
            <a:r>
              <a:rPr sz="825" b="0">
                <a:solidFill>
                  <a:srgbClr val="1D1B2F"/>
                </a:solidFill>
                <a:latin typeface="Menlo"/>
              </a:rPr>
              <a:t>  MATCH (seed)-[t1:ACCOUNT_TRANSFERS_ACCOUNT]-&gt;(:Account)-[t2:ACCOUNT_TRANSFERS_ACCOUNT]-&gt;(:Account)-[t3:ACCOUNT_TRANSFERS_ACCOUNT]-&gt;(r:Account)&lt;-[:COMPANY_OWNS_ACCOUNT]-(c:Company)</a:t>
            </a:r>
          </a:p>
          <a:p>
            <a:r>
              <a:rPr sz="825" b="0">
                <a:solidFill>
                  <a:srgbClr val="1D1B2F"/>
                </a:solidFill>
                <a:latin typeface="Menlo"/>
              </a:rPr>
              <a:t>  WHERE t2.create_time &gt; t1.create_time AND t3.create_time &gt; t2.create_time</a:t>
            </a:r>
          </a:p>
          <a:p>
            <a:r>
              <a:rPr sz="825" b="0">
                <a:solidFill>
                  <a:srgbClr val="1D1B2F"/>
                </a:solidFill>
                <a:latin typeface="Menlo"/>
              </a:rPr>
              <a:t>  RETURN 'company' AS owner_type, id(c) AS oid</a:t>
            </a:r>
          </a:p>
          <a:p>
            <a:r>
              <a:rPr sz="825" b="0">
                <a:solidFill>
                  <a:srgbClr val="1D1B2F"/>
                </a:solidFill>
                <a:latin typeface="Menlo"/>
              </a:rPr>
              <a:t>}</a:t>
            </a:r>
          </a:p>
          <a:p>
            <a:r>
              <a:rPr sz="825" b="0">
                <a:solidFill>
                  <a:srgbClr val="1D1B2F"/>
                </a:solidFill>
                <a:latin typeface="Menlo"/>
              </a:rPr>
              <a:t>RETURN owner_type, count(DISTINCT oid) AS owners</a:t>
            </a:r>
          </a:p>
          <a:p>
            <a:r>
              <a:rPr sz="825" b="0">
                <a:solidFill>
                  <a:srgbClr val="1D1B2F"/>
                </a:solidFill>
                <a:latin typeface="Menlo"/>
              </a:rPr>
              <a:t>ORDER BY owner_type</a:t>
            </a:r>
          </a:p>
        </p:txBody>
      </p:sp>
      <p:sp>
        <p:nvSpPr>
          <p:cNvPr id="4" name="TextBox 3"/>
          <p:cNvSpPr txBox="1"/>
          <p:nvPr/>
        </p:nvSpPr>
        <p:spPr>
          <a:xfrm>
            <a:off x="762000" y="8115300"/>
            <a:ext cx="11430000" cy="285750"/>
          </a:xfrm>
          <a:prstGeom prst="rect">
            <a:avLst/>
          </a:prstGeom>
          <a:noFill/>
        </p:spPr>
        <p:txBody>
          <a:bodyPr wrap="square">
            <a:spAutoFit/>
          </a:bodyPr>
          <a:lstStyle/>
          <a:p>
            <a:r>
              <a:rPr sz="1050" b="0">
                <a:solidFill>
                  <a:srgbClr val="5F5B73"/>
                </a:solidFill>
                <a:latin typeface="Helvetica"/>
              </a:rPr>
              <a:t>Appendix · Synthetic LDBC FinBench data · queried through PuppyGraph</a:t>
            </a:r>
          </a:p>
        </p:txBody>
      </p:sp>
      <p:sp>
        <p:nvSpPr>
          <p:cNvPr id="5" name="TextBox 4"/>
          <p:cNvSpPr txBox="1"/>
          <p:nvPr/>
        </p:nvSpPr>
        <p:spPr>
          <a:xfrm>
            <a:off x="13716000" y="8115300"/>
            <a:ext cx="762000" cy="285750"/>
          </a:xfrm>
          <a:prstGeom prst="rect">
            <a:avLst/>
          </a:prstGeom>
          <a:noFill/>
        </p:spPr>
        <p:txBody>
          <a:bodyPr wrap="square">
            <a:spAutoFit/>
          </a:bodyPr>
          <a:lstStyle/>
          <a:p>
            <a:pPr algn="r"/>
            <a:r>
              <a:rPr sz="1050" b="0">
                <a:solidFill>
                  <a:srgbClr val="5F5B73"/>
                </a:solidFill>
                <a:latin typeface="Helvetica"/>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533400"/>
            <a:ext cx="13716000" cy="571500"/>
          </a:xfrm>
          <a:prstGeom prst="rect">
            <a:avLst/>
          </a:prstGeom>
          <a:noFill/>
        </p:spPr>
        <p:txBody>
          <a:bodyPr wrap="square">
            <a:spAutoFit/>
          </a:bodyPr>
          <a:lstStyle/>
          <a:p>
            <a:r>
              <a:rPr sz="2250" b="1">
                <a:solidFill>
                  <a:srgbClr val="1D1B2F"/>
                </a:solidFill>
                <a:latin typeface="Helvetica"/>
              </a:rPr>
              <a:t>A2 · Fig 2: Chronological round-tripping paths by path length</a:t>
            </a:r>
          </a:p>
        </p:txBody>
      </p:sp>
      <p:sp>
        <p:nvSpPr>
          <p:cNvPr id="3" name="TextBox 2"/>
          <p:cNvSpPr txBox="1"/>
          <p:nvPr/>
        </p:nvSpPr>
        <p:spPr>
          <a:xfrm>
            <a:off x="762000" y="1238250"/>
            <a:ext cx="8953500" cy="6667500"/>
          </a:xfrm>
          <a:prstGeom prst="rect">
            <a:avLst/>
          </a:prstGeom>
          <a:noFill/>
        </p:spPr>
        <p:txBody>
          <a:bodyPr wrap="square">
            <a:spAutoFit/>
          </a:bodyPr>
          <a:lstStyle/>
          <a:p>
            <a:r>
              <a:rPr sz="1200" b="0">
                <a:solidFill>
                  <a:srgbClr val="1D1B2F"/>
                </a:solidFill>
                <a:latin typeface="Menlo"/>
              </a:rPr>
              <a:t>Loop counts, start accounts and synthetic amounts by path length</a:t>
            </a:r>
          </a:p>
          <a:p>
            <a:r>
              <a:rPr sz="1200" b="0">
                <a:solidFill>
                  <a:srgbClr val="1D1B2F"/>
                </a:solidFill>
                <a:latin typeface="Menlo"/>
              </a:rPr>
              <a:t>CALL {</a:t>
            </a:r>
          </a:p>
          <a:p>
            <a:r>
              <a:rPr sz="1200" b="0">
                <a:solidFill>
                  <a:srgbClr val="1D1B2F"/>
                </a:solidFill>
                <a:latin typeface="Menlo"/>
              </a:rPr>
              <a:t>MATCH (a:Account)-[t1:ACCOUNT_TRANSFERS_ACCOUNT]-&gt;(b:Account)-[t2:ACCOUNT_TRANSFERS_ACCOUNT]-&gt;(a)</a:t>
            </a:r>
          </a:p>
          <a:p>
            <a:r>
              <a:rPr sz="1200" b="0">
                <a:solidFill>
                  <a:srgbClr val="1D1B2F"/>
                </a:solidFill>
                <a:latin typeface="Menlo"/>
              </a:rPr>
              <a:t>WHERE id(b) &lt;&gt; id(a) AND t2.create_time &gt; t1.create_time</a:t>
            </a:r>
          </a:p>
          <a:p>
            <a:r>
              <a:rPr sz="1200" b="0">
                <a:solidFill>
                  <a:srgbClr val="1D1B2F"/>
                </a:solidFill>
                <a:latin typeface="Menlo"/>
              </a:rPr>
              <a:t>RETURN 2 AS hops, count(*) AS loops, count(DISTINCT a) AS start_accounts, sum(t1.amount) AS departure_amount, sum(t2.amount) AS return_amount</a:t>
            </a:r>
          </a:p>
          <a:p>
            <a:r>
              <a:rPr sz="1200" b="0">
                <a:solidFill>
                  <a:srgbClr val="1D1B2F"/>
                </a:solidFill>
                <a:latin typeface="Menlo"/>
              </a:rPr>
              <a:t>UNION</a:t>
            </a:r>
          </a:p>
          <a:p>
            <a:r>
              <a:rPr sz="1200" b="0">
                <a:solidFill>
                  <a:srgbClr val="1D1B2F"/>
                </a:solidFill>
                <a:latin typeface="Menlo"/>
              </a:rPr>
              <a:t>MATCH (a:Account)-[t1:ACCOUNT_TRANSFERS_ACCOUNT]-&gt;(b:Account)-[t2:ACCOUNT_TRANSFERS_ACCOUNT]-&gt;(c:Account)-[t3:ACCOUNT_TRANSFERS_ACCOUNT]-&gt;(a)</a:t>
            </a:r>
          </a:p>
          <a:p>
            <a:r>
              <a:rPr sz="1200" b="0">
                <a:solidFill>
                  <a:srgbClr val="1D1B2F"/>
                </a:solidFill>
                <a:latin typeface="Menlo"/>
              </a:rPr>
              <a:t>WHERE id(b) &lt;&gt; id(a) AND id(c) &lt;&gt; id(a) AND t2.create_time &gt; t1.create_time AND t3.create_time &gt; t2.create_time</a:t>
            </a:r>
          </a:p>
          <a:p>
            <a:r>
              <a:rPr sz="1200" b="0">
                <a:solidFill>
                  <a:srgbClr val="1D1B2F"/>
                </a:solidFill>
                <a:latin typeface="Menlo"/>
              </a:rPr>
              <a:t>RETURN 3 AS hops, count(*) AS loops, count(DISTINCT a) AS start_accounts, sum(t1.amount) AS departure_amount, sum(t3.amount) AS return_amount</a:t>
            </a:r>
          </a:p>
          <a:p>
            <a:r>
              <a:rPr sz="1200" b="0">
                <a:solidFill>
                  <a:srgbClr val="1D1B2F"/>
                </a:solidFill>
                <a:latin typeface="Menlo"/>
              </a:rPr>
              <a:t>UNION</a:t>
            </a:r>
          </a:p>
          <a:p>
            <a:r>
              <a:rPr sz="1200" b="0">
                <a:solidFill>
                  <a:srgbClr val="1D1B2F"/>
                </a:solidFill>
                <a:latin typeface="Menlo"/>
              </a:rPr>
              <a:t>MATCH (a:Account)-[t1:ACCOUNT_TRANSFERS_ACCOUNT]-&gt;(b:Account)-[t2:ACCOUNT_TRANSFERS_ACCOUNT]-&gt;(c:Account)-[t3:ACCOUNT_TRANSFERS_ACCOUNT]-&gt;(d:Account)-[t4:ACCOUNT_TRANSFERS_ACCOUNT]-&gt;(a)</a:t>
            </a:r>
          </a:p>
          <a:p>
            <a:r>
              <a:rPr sz="1200" b="0">
                <a:solidFill>
                  <a:srgbClr val="1D1B2F"/>
                </a:solidFill>
                <a:latin typeface="Menlo"/>
              </a:rPr>
              <a:t>WHERE id(b) &lt;&gt; id(a) AND id(c) &lt;&gt; id(a) AND id(d) &lt;&gt; id(a) AND t2.create_time &gt; t1.create_time AND t3.create_time &gt; t2.create_time AND t4.create_time &gt; t3.create_time</a:t>
            </a:r>
          </a:p>
          <a:p>
            <a:r>
              <a:rPr sz="1200" b="0">
                <a:solidFill>
                  <a:srgbClr val="1D1B2F"/>
                </a:solidFill>
                <a:latin typeface="Menlo"/>
              </a:rPr>
              <a:t>RETURN 4 AS hops, count(*) AS loops, count(DISTINCT a) AS start_accounts, sum(t1.amount) AS departure_amount, sum(t4.amount) AS return_amount</a:t>
            </a:r>
          </a:p>
          <a:p>
            <a:r>
              <a:rPr sz="1200" b="0">
                <a:solidFill>
                  <a:srgbClr val="1D1B2F"/>
                </a:solidFill>
                <a:latin typeface="Menlo"/>
              </a:rPr>
              <a:t>}</a:t>
            </a:r>
          </a:p>
          <a:p>
            <a:r>
              <a:rPr sz="1200" b="0">
                <a:solidFill>
                  <a:srgbClr val="1D1B2F"/>
                </a:solidFill>
                <a:latin typeface="Menlo"/>
              </a:rPr>
              <a:t>RETURN hops, loops, start_accounts, departure_amount, return_amount</a:t>
            </a:r>
          </a:p>
          <a:p>
            <a:r>
              <a:rPr sz="1200" b="0">
                <a:solidFill>
                  <a:srgbClr val="1D1B2F"/>
                </a:solidFill>
                <a:latin typeface="Menlo"/>
              </a:rPr>
              <a:t>ORDER BY hops</a:t>
            </a:r>
          </a:p>
        </p:txBody>
      </p:sp>
      <p:sp>
        <p:nvSpPr>
          <p:cNvPr id="4" name="TextBox 3"/>
          <p:cNvSpPr txBox="1"/>
          <p:nvPr/>
        </p:nvSpPr>
        <p:spPr>
          <a:xfrm>
            <a:off x="10058400" y="1238250"/>
            <a:ext cx="4419600" cy="285750"/>
          </a:xfrm>
          <a:prstGeom prst="rect">
            <a:avLst/>
          </a:prstGeom>
          <a:noFill/>
        </p:spPr>
        <p:txBody>
          <a:bodyPr wrap="square">
            <a:spAutoFit/>
          </a:bodyPr>
          <a:lstStyle/>
          <a:p>
            <a:r>
              <a:rPr sz="1350" b="1">
                <a:solidFill>
                  <a:srgbClr val="5B2A86"/>
                </a:solidFill>
                <a:latin typeface="Helvetica"/>
              </a:rPr>
              <a:t>Results and derivation</a:t>
            </a:r>
          </a:p>
        </p:txBody>
      </p:sp>
      <p:sp>
        <p:nvSpPr>
          <p:cNvPr id="5" name="TextBox 4"/>
          <p:cNvSpPr txBox="1"/>
          <p:nvPr/>
        </p:nvSpPr>
        <p:spPr>
          <a:xfrm>
            <a:off x="10058400" y="1581150"/>
            <a:ext cx="4419600" cy="6286500"/>
          </a:xfrm>
          <a:prstGeom prst="rect">
            <a:avLst/>
          </a:prstGeom>
          <a:noFill/>
        </p:spPr>
        <p:txBody>
          <a:bodyPr wrap="square">
            <a:spAutoFit/>
          </a:bodyPr>
          <a:lstStyle/>
          <a:p>
            <a:r>
              <a:rPr sz="1275" b="0">
                <a:solidFill>
                  <a:srgbClr val="1D1B2F"/>
                </a:solidFill>
                <a:latin typeface="Helvetica"/>
              </a:rPr>
              <a:t>Loop query returned 44 two-hop loops, 9 three-hop loops and 10 four-hop loops = 63 total. Unique-start query returned 45 starting accounts; 45 / 2,055 total accounts = 2.2%. Departure synthetic amount totals are 214,318,391.80 + 43,595,925.53 + 50,130,439.14 = 308,044,756.47; return synthetic amount totals are 253,190,727.51 + 35,907,568.08 + 52,074,414.48 = 341,172,710.07. Baseline query returned 8,132 transfers, so 63 / 8,132 = 0.8%.</a:t>
            </a:r>
          </a:p>
        </p:txBody>
      </p:sp>
      <p:sp>
        <p:nvSpPr>
          <p:cNvPr id="6" name="TextBox 5"/>
          <p:cNvSpPr txBox="1"/>
          <p:nvPr/>
        </p:nvSpPr>
        <p:spPr>
          <a:xfrm>
            <a:off x="762000" y="8115300"/>
            <a:ext cx="11430000" cy="285750"/>
          </a:xfrm>
          <a:prstGeom prst="rect">
            <a:avLst/>
          </a:prstGeom>
          <a:noFill/>
        </p:spPr>
        <p:txBody>
          <a:bodyPr wrap="square">
            <a:spAutoFit/>
          </a:bodyPr>
          <a:lstStyle/>
          <a:p>
            <a:r>
              <a:rPr sz="1050" b="0">
                <a:solidFill>
                  <a:srgbClr val="5F5B73"/>
                </a:solidFill>
                <a:latin typeface="Helvetica"/>
              </a:rPr>
              <a:t>Appendix · Synthetic LDBC FinBench data · queried through PuppyGraph</a:t>
            </a:r>
          </a:p>
        </p:txBody>
      </p:sp>
      <p:sp>
        <p:nvSpPr>
          <p:cNvPr id="7" name="TextBox 6"/>
          <p:cNvSpPr txBox="1"/>
          <p:nvPr/>
        </p:nvSpPr>
        <p:spPr>
          <a:xfrm>
            <a:off x="13716000" y="8115300"/>
            <a:ext cx="762000" cy="285750"/>
          </a:xfrm>
          <a:prstGeom prst="rect">
            <a:avLst/>
          </a:prstGeom>
          <a:noFill/>
        </p:spPr>
        <p:txBody>
          <a:bodyPr wrap="square">
            <a:spAutoFit/>
          </a:bodyPr>
          <a:lstStyle/>
          <a:p>
            <a:pPr algn="r"/>
            <a:r>
              <a:rPr sz="1050" b="0">
                <a:solidFill>
                  <a:srgbClr val="5F5B73"/>
                </a:solidFill>
                <a:latin typeface="Helvetica"/>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533400"/>
            <a:ext cx="13716000" cy="571500"/>
          </a:xfrm>
          <a:prstGeom prst="rect">
            <a:avLst/>
          </a:prstGeom>
          <a:noFill/>
        </p:spPr>
        <p:txBody>
          <a:bodyPr wrap="square">
            <a:spAutoFit/>
          </a:bodyPr>
          <a:lstStyle/>
          <a:p>
            <a:r>
              <a:rPr sz="2250" b="1">
                <a:solidFill>
                  <a:srgbClr val="1D1B2F"/>
                </a:solidFill>
                <a:latin typeface="Helvetica"/>
              </a:rPr>
              <a:t>A2 · Fig 2: Chronological round-tripping paths by path length (continued, 2/2)</a:t>
            </a:r>
          </a:p>
        </p:txBody>
      </p:sp>
      <p:sp>
        <p:nvSpPr>
          <p:cNvPr id="3" name="TextBox 2"/>
          <p:cNvSpPr txBox="1"/>
          <p:nvPr/>
        </p:nvSpPr>
        <p:spPr>
          <a:xfrm>
            <a:off x="762000" y="1238250"/>
            <a:ext cx="13716000" cy="6667500"/>
          </a:xfrm>
          <a:prstGeom prst="rect">
            <a:avLst/>
          </a:prstGeom>
          <a:noFill/>
        </p:spPr>
        <p:txBody>
          <a:bodyPr wrap="square">
            <a:spAutoFit/>
          </a:bodyPr>
          <a:lstStyle/>
          <a:p>
            <a:r>
              <a:rPr sz="1125" b="0">
                <a:solidFill>
                  <a:srgbClr val="1D1B2F"/>
                </a:solidFill>
                <a:latin typeface="Menlo"/>
              </a:rPr>
              <a:t>Unique starting accounts across 2-4 hop loops</a:t>
            </a:r>
          </a:p>
          <a:p>
            <a:r>
              <a:rPr sz="1125" b="0">
                <a:solidFill>
                  <a:srgbClr val="1D1B2F"/>
                </a:solidFill>
                <a:latin typeface="Menlo"/>
              </a:rPr>
              <a:t>CALL {</a:t>
            </a:r>
          </a:p>
          <a:p>
            <a:r>
              <a:rPr sz="1125" b="0">
                <a:solidFill>
                  <a:srgbClr val="1D1B2F"/>
                </a:solidFill>
                <a:latin typeface="Menlo"/>
              </a:rPr>
              <a:t>MATCH (a:Account)-[t1:ACCOUNT_TRANSFERS_ACCOUNT]-&gt;(b:Account)-[t2:ACCOUNT_TRANSFERS_ACCOUNT]-&gt;(a)</a:t>
            </a:r>
          </a:p>
          <a:p>
            <a:r>
              <a:rPr sz="1125" b="0">
                <a:solidFill>
                  <a:srgbClr val="1D1B2F"/>
                </a:solidFill>
                <a:latin typeface="Menlo"/>
              </a:rPr>
              <a:t>WHERE id(b) &lt;&gt; id(a) AND t2.create_time &gt; t1.create_time</a:t>
            </a:r>
          </a:p>
          <a:p>
            <a:r>
              <a:rPr sz="1125" b="0">
                <a:solidFill>
                  <a:srgbClr val="1D1B2F"/>
                </a:solidFill>
                <a:latin typeface="Menlo"/>
              </a:rPr>
              <a:t>RETURN id(a) AS aid</a:t>
            </a:r>
          </a:p>
          <a:p>
            <a:r>
              <a:rPr sz="1125" b="0">
                <a:solidFill>
                  <a:srgbClr val="1D1B2F"/>
                </a:solidFill>
                <a:latin typeface="Menlo"/>
              </a:rPr>
              <a:t>UNION</a:t>
            </a:r>
          </a:p>
          <a:p>
            <a:r>
              <a:rPr sz="1125" b="0">
                <a:solidFill>
                  <a:srgbClr val="1D1B2F"/>
                </a:solidFill>
                <a:latin typeface="Menlo"/>
              </a:rPr>
              <a:t>MATCH (a:Account)-[t1:ACCOUNT_TRANSFERS_ACCOUNT]-&gt;(b:Account)-[t2:ACCOUNT_TRANSFERS_ACCOUNT]-&gt;(c:Account)-[t3:ACCOUNT_TRANSFERS_ACCOUNT]-&gt;(a)</a:t>
            </a:r>
          </a:p>
          <a:p>
            <a:r>
              <a:rPr sz="1125" b="0">
                <a:solidFill>
                  <a:srgbClr val="1D1B2F"/>
                </a:solidFill>
                <a:latin typeface="Menlo"/>
              </a:rPr>
              <a:t>WHERE id(b) &lt;&gt; id(a) AND id(c) &lt;&gt; id(a) AND t2.create_time &gt; t1.create_time AND t3.create_time &gt; t2.create_time</a:t>
            </a:r>
          </a:p>
          <a:p>
            <a:r>
              <a:rPr sz="1125" b="0">
                <a:solidFill>
                  <a:srgbClr val="1D1B2F"/>
                </a:solidFill>
                <a:latin typeface="Menlo"/>
              </a:rPr>
              <a:t>RETURN id(a) AS aid</a:t>
            </a:r>
          </a:p>
          <a:p>
            <a:r>
              <a:rPr sz="1125" b="0">
                <a:solidFill>
                  <a:srgbClr val="1D1B2F"/>
                </a:solidFill>
                <a:latin typeface="Menlo"/>
              </a:rPr>
              <a:t>UNION</a:t>
            </a:r>
          </a:p>
          <a:p>
            <a:r>
              <a:rPr sz="1125" b="0">
                <a:solidFill>
                  <a:srgbClr val="1D1B2F"/>
                </a:solidFill>
                <a:latin typeface="Menlo"/>
              </a:rPr>
              <a:t>MATCH (a:Account)-[t1:ACCOUNT_TRANSFERS_ACCOUNT]-&gt;(b:Account)-[t2:ACCOUNT_TRANSFERS_ACCOUNT]-&gt;(c:Account)-[t3:ACCOUNT_TRANSFERS_ACCOUNT]-&gt;(d:Account)-[t4:ACCOUNT_TRANSFERS_ACCOUNT]-&gt;(a)</a:t>
            </a:r>
          </a:p>
          <a:p>
            <a:r>
              <a:rPr sz="1125" b="0">
                <a:solidFill>
                  <a:srgbClr val="1D1B2F"/>
                </a:solidFill>
                <a:latin typeface="Menlo"/>
              </a:rPr>
              <a:t>WHERE id(b) &lt;&gt; id(a) AND id(c) &lt;&gt; id(a) AND id(d) &lt;&gt; id(a) AND t2.create_time &gt; t1.create_time AND t3.create_time &gt; t2.create_time AND t4.create_time &gt; t3.create_time</a:t>
            </a:r>
          </a:p>
          <a:p>
            <a:r>
              <a:rPr sz="1125" b="0">
                <a:solidFill>
                  <a:srgbClr val="1D1B2F"/>
                </a:solidFill>
                <a:latin typeface="Menlo"/>
              </a:rPr>
              <a:t>RETURN id(a) AS aid</a:t>
            </a:r>
          </a:p>
          <a:p>
            <a:r>
              <a:rPr sz="1125" b="0">
                <a:solidFill>
                  <a:srgbClr val="1D1B2F"/>
                </a:solidFill>
                <a:latin typeface="Menlo"/>
              </a:rPr>
              <a:t>}</a:t>
            </a:r>
          </a:p>
          <a:p>
            <a:r>
              <a:rPr sz="1125" b="0">
                <a:solidFill>
                  <a:srgbClr val="1D1B2F"/>
                </a:solidFill>
                <a:latin typeface="Menlo"/>
              </a:rPr>
              <a:t>RETURN count(DISTINCT aid) AS loop_start_accounts</a:t>
            </a:r>
          </a:p>
          <a:p>
            <a:r>
              <a:rPr sz="1125" b="0">
                <a:solidFill>
                  <a:srgbClr val="1D1B2F"/>
                </a:solidFill>
                <a:latin typeface="Menlo"/>
              </a:rPr>
              <a:t>LIMIT 1</a:t>
            </a:r>
          </a:p>
          <a:p/>
          <a:p>
            <a:r>
              <a:rPr sz="1125" b="0">
                <a:solidFill>
                  <a:srgbClr val="1D1B2F"/>
                </a:solidFill>
                <a:latin typeface="Menlo"/>
              </a:rPr>
              <a:t>Transfer and account baseline</a:t>
            </a:r>
          </a:p>
          <a:p>
            <a:r>
              <a:rPr sz="1125" b="0">
                <a:solidFill>
                  <a:srgbClr val="1D1B2F"/>
                </a:solidFill>
                <a:latin typeface="Menlo"/>
              </a:rPr>
              <a:t>MATCH (a:Account)</a:t>
            </a:r>
          </a:p>
          <a:p>
            <a:r>
              <a:rPr sz="1125" b="0">
                <a:solidFill>
                  <a:srgbClr val="1D1B2F"/>
                </a:solidFill>
                <a:latin typeface="Menlo"/>
              </a:rPr>
              <a:t>WITH count(a) AS accounts</a:t>
            </a:r>
          </a:p>
          <a:p>
            <a:r>
              <a:rPr sz="1125" b="0">
                <a:solidFill>
                  <a:srgbClr val="1D1B2F"/>
                </a:solidFill>
                <a:latin typeface="Menlo"/>
              </a:rPr>
              <a:t>MATCH ()-[t:ACCOUNT_TRANSFERS_ACCOUNT]-&gt;()</a:t>
            </a:r>
          </a:p>
          <a:p>
            <a:r>
              <a:rPr sz="1125" b="0">
                <a:solidFill>
                  <a:srgbClr val="1D1B2F"/>
                </a:solidFill>
                <a:latin typeface="Menlo"/>
              </a:rPr>
              <a:t>RETURN accounts, count(t) AS transfers, sum(t.amount) AS transfer_amount</a:t>
            </a:r>
          </a:p>
          <a:p>
            <a:r>
              <a:rPr sz="1125" b="0">
                <a:solidFill>
                  <a:srgbClr val="1D1B2F"/>
                </a:solidFill>
                <a:latin typeface="Menlo"/>
              </a:rPr>
              <a:t>LIMIT 1</a:t>
            </a:r>
          </a:p>
        </p:txBody>
      </p:sp>
      <p:sp>
        <p:nvSpPr>
          <p:cNvPr id="4" name="TextBox 3"/>
          <p:cNvSpPr txBox="1"/>
          <p:nvPr/>
        </p:nvSpPr>
        <p:spPr>
          <a:xfrm>
            <a:off x="762000" y="8115300"/>
            <a:ext cx="11430000" cy="285750"/>
          </a:xfrm>
          <a:prstGeom prst="rect">
            <a:avLst/>
          </a:prstGeom>
          <a:noFill/>
        </p:spPr>
        <p:txBody>
          <a:bodyPr wrap="square">
            <a:spAutoFit/>
          </a:bodyPr>
          <a:lstStyle/>
          <a:p>
            <a:r>
              <a:rPr sz="1050" b="0">
                <a:solidFill>
                  <a:srgbClr val="5F5B73"/>
                </a:solidFill>
                <a:latin typeface="Helvetica"/>
              </a:rPr>
              <a:t>Appendix · Synthetic LDBC FinBench data · queried through PuppyGraph</a:t>
            </a:r>
          </a:p>
        </p:txBody>
      </p:sp>
      <p:sp>
        <p:nvSpPr>
          <p:cNvPr id="5" name="TextBox 4"/>
          <p:cNvSpPr txBox="1"/>
          <p:nvPr/>
        </p:nvSpPr>
        <p:spPr>
          <a:xfrm>
            <a:off x="13716000" y="8115300"/>
            <a:ext cx="762000" cy="285750"/>
          </a:xfrm>
          <a:prstGeom prst="rect">
            <a:avLst/>
          </a:prstGeom>
          <a:noFill/>
        </p:spPr>
        <p:txBody>
          <a:bodyPr wrap="square">
            <a:spAutoFit/>
          </a:bodyPr>
          <a:lstStyle/>
          <a:p>
            <a:pPr algn="r"/>
            <a:r>
              <a:rPr sz="1050" b="0">
                <a:solidFill>
                  <a:srgbClr val="5F5B73"/>
                </a:solidFill>
                <a:latin typeface="Helvetica"/>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533400"/>
            <a:ext cx="13716000" cy="571500"/>
          </a:xfrm>
          <a:prstGeom prst="rect">
            <a:avLst/>
          </a:prstGeom>
          <a:noFill/>
        </p:spPr>
        <p:txBody>
          <a:bodyPr wrap="square">
            <a:spAutoFit/>
          </a:bodyPr>
          <a:lstStyle/>
          <a:p>
            <a:r>
              <a:rPr sz="2250" b="1">
                <a:solidFill>
                  <a:srgbClr val="1D1B2F"/>
                </a:solidFill>
                <a:latin typeface="Helvetica"/>
              </a:rPr>
              <a:t>A3 · Fig 3: Loans connected to blocked accounts by payout or timed transfer distance</a:t>
            </a:r>
          </a:p>
        </p:txBody>
      </p:sp>
      <p:sp>
        <p:nvSpPr>
          <p:cNvPr id="3" name="TextBox 2"/>
          <p:cNvSpPr txBox="1"/>
          <p:nvPr/>
        </p:nvSpPr>
        <p:spPr>
          <a:xfrm>
            <a:off x="762000" y="1238250"/>
            <a:ext cx="8953500" cy="6667500"/>
          </a:xfrm>
          <a:prstGeom prst="rect">
            <a:avLst/>
          </a:prstGeom>
          <a:noFill/>
        </p:spPr>
        <p:txBody>
          <a:bodyPr wrap="square">
            <a:spAutoFit/>
          </a:bodyPr>
          <a:lstStyle/>
          <a:p>
            <a:r>
              <a:rPr sz="1200" b="0">
                <a:solidFill>
                  <a:srgbClr val="1D1B2F"/>
                </a:solidFill>
                <a:latin typeface="Menlo"/>
              </a:rPr>
              <a:t>Loan-deposit baseline</a:t>
            </a:r>
          </a:p>
          <a:p>
            <a:r>
              <a:rPr sz="1200" b="0">
                <a:solidFill>
                  <a:srgbClr val="1D1B2F"/>
                </a:solidFill>
                <a:latin typeface="Menlo"/>
              </a:rPr>
              <a:t>MATCH (l:Loan)-[d:LOAN_DEPOSITS_ACCOUNT]-&gt;(a:Account)</a:t>
            </a:r>
          </a:p>
          <a:p>
            <a:r>
              <a:rPr sz="1200" b="0">
                <a:solidFill>
                  <a:srgbClr val="1D1B2F"/>
                </a:solidFill>
                <a:latin typeface="Menlo"/>
              </a:rPr>
              <a:t>RETURN count(DISTINCT l) AS loans_with_deposits, count(d) AS deposit_edges, count(DISTINCT a) AS payout_accounts, sum(d.amount) AS deposit_amount</a:t>
            </a:r>
          </a:p>
          <a:p>
            <a:r>
              <a:rPr sz="1200" b="0">
                <a:solidFill>
                  <a:srgbClr val="1D1B2F"/>
                </a:solidFill>
                <a:latin typeface="Menlo"/>
              </a:rPr>
              <a:t>LIMIT 1</a:t>
            </a:r>
          </a:p>
        </p:txBody>
      </p:sp>
      <p:sp>
        <p:nvSpPr>
          <p:cNvPr id="4" name="TextBox 3"/>
          <p:cNvSpPr txBox="1"/>
          <p:nvPr/>
        </p:nvSpPr>
        <p:spPr>
          <a:xfrm>
            <a:off x="10058400" y="1238250"/>
            <a:ext cx="4419600" cy="285750"/>
          </a:xfrm>
          <a:prstGeom prst="rect">
            <a:avLst/>
          </a:prstGeom>
          <a:noFill/>
        </p:spPr>
        <p:txBody>
          <a:bodyPr wrap="square">
            <a:spAutoFit/>
          </a:bodyPr>
          <a:lstStyle/>
          <a:p>
            <a:r>
              <a:rPr sz="1350" b="1">
                <a:solidFill>
                  <a:srgbClr val="5B2A86"/>
                </a:solidFill>
                <a:latin typeface="Helvetica"/>
              </a:rPr>
              <a:t>Results and derivation</a:t>
            </a:r>
          </a:p>
        </p:txBody>
      </p:sp>
      <p:sp>
        <p:nvSpPr>
          <p:cNvPr id="5" name="TextBox 4"/>
          <p:cNvSpPr txBox="1"/>
          <p:nvPr/>
        </p:nvSpPr>
        <p:spPr>
          <a:xfrm>
            <a:off x="10058400" y="1581150"/>
            <a:ext cx="4419600" cy="6286500"/>
          </a:xfrm>
          <a:prstGeom prst="rect">
            <a:avLst/>
          </a:prstGeom>
          <a:noFill/>
        </p:spPr>
        <p:txBody>
          <a:bodyPr wrap="square">
            <a:spAutoFit/>
          </a:bodyPr>
          <a:lstStyle/>
          <a:p>
            <a:r>
              <a:rPr sz="1275" b="0">
                <a:solidFill>
                  <a:srgbClr val="1D1B2F"/>
                </a:solidFill>
                <a:latin typeface="Helvetica"/>
              </a:rPr>
              <a:t>Baseline query returned 1,107 loans with deposits, 2,758 deposit edges, 906 payout accounts and 43,962,419,206.80 synthetic deposited amount. Hop query returned: payout account blocked, 87 loans and 52 accounts; 1 hop, 184 loans and 68 accounts; 2 hops, 308 loans and 77 accounts; 3 hops, 290 loans and 74 accounts. Union query returned 503 unique loans and 95 unique blocked accounts reached within 1-3 transfer hops. Percentage = 503 / 1,107 = 45.4%; against all 1,376 loans from the baseline schema query, 503 / 1,376 = 36.6%.</a:t>
            </a:r>
          </a:p>
        </p:txBody>
      </p:sp>
      <p:sp>
        <p:nvSpPr>
          <p:cNvPr id="6" name="TextBox 5"/>
          <p:cNvSpPr txBox="1"/>
          <p:nvPr/>
        </p:nvSpPr>
        <p:spPr>
          <a:xfrm>
            <a:off x="762000" y="8115300"/>
            <a:ext cx="11430000" cy="285750"/>
          </a:xfrm>
          <a:prstGeom prst="rect">
            <a:avLst/>
          </a:prstGeom>
          <a:noFill/>
        </p:spPr>
        <p:txBody>
          <a:bodyPr wrap="square">
            <a:spAutoFit/>
          </a:bodyPr>
          <a:lstStyle/>
          <a:p>
            <a:r>
              <a:rPr sz="1050" b="0">
                <a:solidFill>
                  <a:srgbClr val="5F5B73"/>
                </a:solidFill>
                <a:latin typeface="Helvetica"/>
              </a:rPr>
              <a:t>Appendix · Synthetic LDBC FinBench data · queried through PuppyGraph</a:t>
            </a:r>
          </a:p>
        </p:txBody>
      </p:sp>
      <p:sp>
        <p:nvSpPr>
          <p:cNvPr id="7" name="TextBox 6"/>
          <p:cNvSpPr txBox="1"/>
          <p:nvPr/>
        </p:nvSpPr>
        <p:spPr>
          <a:xfrm>
            <a:off x="13716000" y="8115300"/>
            <a:ext cx="762000" cy="285750"/>
          </a:xfrm>
          <a:prstGeom prst="rect">
            <a:avLst/>
          </a:prstGeom>
          <a:noFill/>
        </p:spPr>
        <p:txBody>
          <a:bodyPr wrap="square">
            <a:spAutoFit/>
          </a:bodyPr>
          <a:lstStyle/>
          <a:p>
            <a:pPr algn="r"/>
            <a:r>
              <a:rPr sz="1050" b="0">
                <a:solidFill>
                  <a:srgbClr val="5F5B73"/>
                </a:solidFill>
                <a:latin typeface="Helvetica"/>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533400"/>
            <a:ext cx="13716000" cy="571500"/>
          </a:xfrm>
          <a:prstGeom prst="rect">
            <a:avLst/>
          </a:prstGeom>
          <a:noFill/>
        </p:spPr>
        <p:txBody>
          <a:bodyPr wrap="square">
            <a:spAutoFit/>
          </a:bodyPr>
          <a:lstStyle/>
          <a:p>
            <a:r>
              <a:rPr sz="2250" b="1">
                <a:solidFill>
                  <a:srgbClr val="1D1B2F"/>
                </a:solidFill>
                <a:latin typeface="Helvetica"/>
              </a:rPr>
              <a:t>A3 · Fig 3: Loans connected to blocked accounts by payout or timed transfer distance (continued, 2/3)</a:t>
            </a:r>
          </a:p>
        </p:txBody>
      </p:sp>
      <p:sp>
        <p:nvSpPr>
          <p:cNvPr id="3" name="TextBox 2"/>
          <p:cNvSpPr txBox="1"/>
          <p:nvPr/>
        </p:nvSpPr>
        <p:spPr>
          <a:xfrm>
            <a:off x="762000" y="1238250"/>
            <a:ext cx="13716000" cy="6667500"/>
          </a:xfrm>
          <a:prstGeom prst="rect">
            <a:avLst/>
          </a:prstGeom>
          <a:noFill/>
        </p:spPr>
        <p:txBody>
          <a:bodyPr wrap="square">
            <a:spAutoFit/>
          </a:bodyPr>
          <a:lstStyle/>
          <a:p>
            <a:r>
              <a:rPr sz="1200" b="0">
                <a:solidFill>
                  <a:srgbClr val="1D1B2F"/>
                </a:solidFill>
                <a:latin typeface="Menlo"/>
              </a:rPr>
              <a:t>Loans connected to blocked accounts at payout and downstream timed hops</a:t>
            </a:r>
          </a:p>
          <a:p>
            <a:r>
              <a:rPr sz="1200" b="0">
                <a:solidFill>
                  <a:srgbClr val="1D1B2F"/>
                </a:solidFill>
                <a:latin typeface="Menlo"/>
              </a:rPr>
              <a:t>CALL {</a:t>
            </a:r>
          </a:p>
          <a:p>
            <a:r>
              <a:rPr sz="1200" b="0">
                <a:solidFill>
                  <a:srgbClr val="1D1B2F"/>
                </a:solidFill>
                <a:latin typeface="Menlo"/>
              </a:rPr>
              <a:t>MATCH (l:Loan)-[d:LOAN_DEPOSITS_ACCOUNT]-&gt;(a:Account {is_blocked: true})</a:t>
            </a:r>
          </a:p>
          <a:p>
            <a:r>
              <a:rPr sz="1200" b="0">
                <a:solidFill>
                  <a:srgbClr val="1D1B2F"/>
                </a:solidFill>
                <a:latin typeface="Menlo"/>
              </a:rPr>
              <a:t>RETURN 0 AS hop, count(DISTINCT l) AS loans, count(DISTINCT a) AS blocked_accounts, count(d) AS edges, sum(d.amount) AS amount</a:t>
            </a:r>
          </a:p>
          <a:p>
            <a:r>
              <a:rPr sz="1200" b="0">
                <a:solidFill>
                  <a:srgbClr val="1D1B2F"/>
                </a:solidFill>
                <a:latin typeface="Menlo"/>
              </a:rPr>
              <a:t>UNION</a:t>
            </a:r>
          </a:p>
          <a:p>
            <a:r>
              <a:rPr sz="1200" b="0">
                <a:solidFill>
                  <a:srgbClr val="1D1B2F"/>
                </a:solidFill>
                <a:latin typeface="Menlo"/>
              </a:rPr>
              <a:t>MATCH (l:Loan)-[d:LOAN_DEPOSITS_ACCOUNT]-&gt;(a:Account)-[t1:ACCOUNT_TRANSFERS_ACCOUNT]-&gt;(b:Account {is_blocked: true})</a:t>
            </a:r>
          </a:p>
          <a:p>
            <a:r>
              <a:rPr sz="1200" b="0">
                <a:solidFill>
                  <a:srgbClr val="1D1B2F"/>
                </a:solidFill>
                <a:latin typeface="Menlo"/>
              </a:rPr>
              <a:t>WHERE t1.create_time &gt; d.create_time</a:t>
            </a:r>
          </a:p>
          <a:p>
            <a:r>
              <a:rPr sz="1200" b="0">
                <a:solidFill>
                  <a:srgbClr val="1D1B2F"/>
                </a:solidFill>
                <a:latin typeface="Menlo"/>
              </a:rPr>
              <a:t>RETURN 1 AS hop, count(DISTINCT l) AS loans, count(DISTINCT b) AS blocked_accounts, count(t1) AS edges, sum(t1.amount) AS amount</a:t>
            </a:r>
          </a:p>
          <a:p>
            <a:r>
              <a:rPr sz="1200" b="0">
                <a:solidFill>
                  <a:srgbClr val="1D1B2F"/>
                </a:solidFill>
                <a:latin typeface="Menlo"/>
              </a:rPr>
              <a:t>UNION</a:t>
            </a:r>
          </a:p>
          <a:p>
            <a:r>
              <a:rPr sz="1200" b="0">
                <a:solidFill>
                  <a:srgbClr val="1D1B2F"/>
                </a:solidFill>
                <a:latin typeface="Menlo"/>
              </a:rPr>
              <a:t>MATCH (l:Loan)-[d:LOAN_DEPOSITS_ACCOUNT]-&gt;(a:Account)-[t1:ACCOUNT_TRANSFERS_ACCOUNT]-&gt;(:Account)-[t2:ACCOUNT_TRANSFERS_ACCOUNT]-&gt;(b:Account {is_blocked: true})</a:t>
            </a:r>
          </a:p>
          <a:p>
            <a:r>
              <a:rPr sz="1200" b="0">
                <a:solidFill>
                  <a:srgbClr val="1D1B2F"/>
                </a:solidFill>
                <a:latin typeface="Menlo"/>
              </a:rPr>
              <a:t>WHERE t1.create_time &gt; d.create_time AND t2.create_time &gt; t1.create_time</a:t>
            </a:r>
          </a:p>
          <a:p>
            <a:r>
              <a:rPr sz="1200" b="0">
                <a:solidFill>
                  <a:srgbClr val="1D1B2F"/>
                </a:solidFill>
                <a:latin typeface="Menlo"/>
              </a:rPr>
              <a:t>RETURN 2 AS hop, count(DISTINCT l) AS loans, count(DISTINCT b) AS blocked_accounts, count(t2) AS edges, sum(t2.amount) AS amount</a:t>
            </a:r>
          </a:p>
          <a:p>
            <a:r>
              <a:rPr sz="1200" b="0">
                <a:solidFill>
                  <a:srgbClr val="1D1B2F"/>
                </a:solidFill>
                <a:latin typeface="Menlo"/>
              </a:rPr>
              <a:t>UNION</a:t>
            </a:r>
          </a:p>
          <a:p>
            <a:r>
              <a:rPr sz="1200" b="0">
                <a:solidFill>
                  <a:srgbClr val="1D1B2F"/>
                </a:solidFill>
                <a:latin typeface="Menlo"/>
              </a:rPr>
              <a:t>MATCH (l:Loan)-[d:LOAN_DEPOSITS_ACCOUNT]-&gt;(a:Account)-[t1:ACCOUNT_TRANSFERS_ACCOUNT]-&gt;(:Account)-[t2:ACCOUNT_TRANSFERS_ACCOUNT]-&gt;(:Account)-[t3:ACCOUNT_TRANSFERS_ACCOUNT]-&gt;(b:Account {is_blocked: true})</a:t>
            </a:r>
          </a:p>
          <a:p>
            <a:r>
              <a:rPr sz="1200" b="0">
                <a:solidFill>
                  <a:srgbClr val="1D1B2F"/>
                </a:solidFill>
                <a:latin typeface="Menlo"/>
              </a:rPr>
              <a:t>WHERE t1.create_time &gt; d.create_time AND t2.create_time &gt; t1.create_time AND t3.create_time &gt; t2.create_time</a:t>
            </a:r>
          </a:p>
          <a:p>
            <a:r>
              <a:rPr sz="1200" b="0">
                <a:solidFill>
                  <a:srgbClr val="1D1B2F"/>
                </a:solidFill>
                <a:latin typeface="Menlo"/>
              </a:rPr>
              <a:t>RETURN 3 AS hop, count(DISTINCT l) AS loans, count(DISTINCT b) AS blocked_accounts, count(t3) AS edges, sum(t3.amount) AS amount</a:t>
            </a:r>
          </a:p>
          <a:p>
            <a:r>
              <a:rPr sz="1200" b="0">
                <a:solidFill>
                  <a:srgbClr val="1D1B2F"/>
                </a:solidFill>
                <a:latin typeface="Menlo"/>
              </a:rPr>
              <a:t>}</a:t>
            </a:r>
          </a:p>
          <a:p>
            <a:r>
              <a:rPr sz="1200" b="0">
                <a:solidFill>
                  <a:srgbClr val="1D1B2F"/>
                </a:solidFill>
                <a:latin typeface="Menlo"/>
              </a:rPr>
              <a:t>RETURN hop, loans, blocked_accounts, edges, amount</a:t>
            </a:r>
          </a:p>
          <a:p>
            <a:r>
              <a:rPr sz="1200" b="0">
                <a:solidFill>
                  <a:srgbClr val="1D1B2F"/>
                </a:solidFill>
                <a:latin typeface="Menlo"/>
              </a:rPr>
              <a:t>ORDER BY hop</a:t>
            </a:r>
          </a:p>
        </p:txBody>
      </p:sp>
      <p:sp>
        <p:nvSpPr>
          <p:cNvPr id="4" name="TextBox 3"/>
          <p:cNvSpPr txBox="1"/>
          <p:nvPr/>
        </p:nvSpPr>
        <p:spPr>
          <a:xfrm>
            <a:off x="762000" y="8115300"/>
            <a:ext cx="11430000" cy="285750"/>
          </a:xfrm>
          <a:prstGeom prst="rect">
            <a:avLst/>
          </a:prstGeom>
          <a:noFill/>
        </p:spPr>
        <p:txBody>
          <a:bodyPr wrap="square">
            <a:spAutoFit/>
          </a:bodyPr>
          <a:lstStyle/>
          <a:p>
            <a:r>
              <a:rPr sz="1050" b="0">
                <a:solidFill>
                  <a:srgbClr val="5F5B73"/>
                </a:solidFill>
                <a:latin typeface="Helvetica"/>
              </a:rPr>
              <a:t>Appendix · Synthetic LDBC FinBench data · queried through PuppyGraph</a:t>
            </a:r>
          </a:p>
        </p:txBody>
      </p:sp>
      <p:sp>
        <p:nvSpPr>
          <p:cNvPr id="5" name="TextBox 4"/>
          <p:cNvSpPr txBox="1"/>
          <p:nvPr/>
        </p:nvSpPr>
        <p:spPr>
          <a:xfrm>
            <a:off x="13716000" y="8115300"/>
            <a:ext cx="762000" cy="285750"/>
          </a:xfrm>
          <a:prstGeom prst="rect">
            <a:avLst/>
          </a:prstGeom>
          <a:noFill/>
        </p:spPr>
        <p:txBody>
          <a:bodyPr wrap="square">
            <a:spAutoFit/>
          </a:bodyPr>
          <a:lstStyle/>
          <a:p>
            <a:pPr algn="r"/>
            <a:r>
              <a:rPr sz="1050" b="0">
                <a:solidFill>
                  <a:srgbClr val="5F5B73"/>
                </a:solidFill>
                <a:latin typeface="Helvetica"/>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533400"/>
            <a:ext cx="13716000" cy="571500"/>
          </a:xfrm>
          <a:prstGeom prst="rect">
            <a:avLst/>
          </a:prstGeom>
          <a:noFill/>
        </p:spPr>
        <p:txBody>
          <a:bodyPr wrap="square">
            <a:spAutoFit/>
          </a:bodyPr>
          <a:lstStyle/>
          <a:p>
            <a:r>
              <a:rPr sz="2250" b="1">
                <a:solidFill>
                  <a:srgbClr val="1D1B2F"/>
                </a:solidFill>
                <a:latin typeface="Helvetica"/>
              </a:rPr>
              <a:t>A3 · Fig 3: Loans connected to blocked accounts by payout or timed transfer distance (continued, 3/3)</a:t>
            </a:r>
          </a:p>
        </p:txBody>
      </p:sp>
      <p:sp>
        <p:nvSpPr>
          <p:cNvPr id="3" name="TextBox 2"/>
          <p:cNvSpPr txBox="1"/>
          <p:nvPr/>
        </p:nvSpPr>
        <p:spPr>
          <a:xfrm>
            <a:off x="762000" y="1238250"/>
            <a:ext cx="13716000" cy="6667500"/>
          </a:xfrm>
          <a:prstGeom prst="rect">
            <a:avLst/>
          </a:prstGeom>
          <a:noFill/>
        </p:spPr>
        <p:txBody>
          <a:bodyPr wrap="square">
            <a:spAutoFit/>
          </a:bodyPr>
          <a:lstStyle/>
          <a:p>
            <a:r>
              <a:rPr sz="1200" b="0">
                <a:solidFill>
                  <a:srgbClr val="1D1B2F"/>
                </a:solidFill>
                <a:latin typeface="Menlo"/>
              </a:rPr>
              <a:t>Unique loans and blocked accounts reached within 1-3 transfer hops</a:t>
            </a:r>
          </a:p>
          <a:p>
            <a:r>
              <a:rPr sz="1200" b="0">
                <a:solidFill>
                  <a:srgbClr val="1D1B2F"/>
                </a:solidFill>
                <a:latin typeface="Menlo"/>
              </a:rPr>
              <a:t>CALL {</a:t>
            </a:r>
          </a:p>
          <a:p>
            <a:r>
              <a:rPr sz="1200" b="0">
                <a:solidFill>
                  <a:srgbClr val="1D1B2F"/>
                </a:solidFill>
                <a:latin typeface="Menlo"/>
              </a:rPr>
              <a:t>MATCH (l:Loan)-[d:LOAN_DEPOSITS_ACCOUNT]-&gt;(a:Account)-[t1:ACCOUNT_TRANSFERS_ACCOUNT]-&gt;(b:Account {is_blocked: true})</a:t>
            </a:r>
          </a:p>
          <a:p>
            <a:r>
              <a:rPr sz="1200" b="0">
                <a:solidFill>
                  <a:srgbClr val="1D1B2F"/>
                </a:solidFill>
                <a:latin typeface="Menlo"/>
              </a:rPr>
              <a:t>WHERE t1.create_time &gt; d.create_time</a:t>
            </a:r>
          </a:p>
          <a:p>
            <a:r>
              <a:rPr sz="1200" b="0">
                <a:solidFill>
                  <a:srgbClr val="1D1B2F"/>
                </a:solidFill>
                <a:latin typeface="Menlo"/>
              </a:rPr>
              <a:t>RETURN id(l) AS lid, id(b) AS bid</a:t>
            </a:r>
          </a:p>
          <a:p>
            <a:r>
              <a:rPr sz="1200" b="0">
                <a:solidFill>
                  <a:srgbClr val="1D1B2F"/>
                </a:solidFill>
                <a:latin typeface="Menlo"/>
              </a:rPr>
              <a:t>UNION</a:t>
            </a:r>
          </a:p>
          <a:p>
            <a:r>
              <a:rPr sz="1200" b="0">
                <a:solidFill>
                  <a:srgbClr val="1D1B2F"/>
                </a:solidFill>
                <a:latin typeface="Menlo"/>
              </a:rPr>
              <a:t>MATCH (l:Loan)-[d:LOAN_DEPOSITS_ACCOUNT]-&gt;(a:Account)-[t1:ACCOUNT_TRANSFERS_ACCOUNT]-&gt;(:Account)-[t2:ACCOUNT_TRANSFERS_ACCOUNT]-&gt;(b:Account {is_blocked: true})</a:t>
            </a:r>
          </a:p>
          <a:p>
            <a:r>
              <a:rPr sz="1200" b="0">
                <a:solidFill>
                  <a:srgbClr val="1D1B2F"/>
                </a:solidFill>
                <a:latin typeface="Menlo"/>
              </a:rPr>
              <a:t>WHERE t1.create_time &gt; d.create_time AND t2.create_time &gt; t1.create_time</a:t>
            </a:r>
          </a:p>
          <a:p>
            <a:r>
              <a:rPr sz="1200" b="0">
                <a:solidFill>
                  <a:srgbClr val="1D1B2F"/>
                </a:solidFill>
                <a:latin typeface="Menlo"/>
              </a:rPr>
              <a:t>RETURN id(l) AS lid, id(b) AS bid</a:t>
            </a:r>
          </a:p>
          <a:p>
            <a:r>
              <a:rPr sz="1200" b="0">
                <a:solidFill>
                  <a:srgbClr val="1D1B2F"/>
                </a:solidFill>
                <a:latin typeface="Menlo"/>
              </a:rPr>
              <a:t>UNION</a:t>
            </a:r>
          </a:p>
          <a:p>
            <a:r>
              <a:rPr sz="1200" b="0">
                <a:solidFill>
                  <a:srgbClr val="1D1B2F"/>
                </a:solidFill>
                <a:latin typeface="Menlo"/>
              </a:rPr>
              <a:t>MATCH (l:Loan)-[d:LOAN_DEPOSITS_ACCOUNT]-&gt;(a:Account)-[t1:ACCOUNT_TRANSFERS_ACCOUNT]-&gt;(:Account)-[t2:ACCOUNT_TRANSFERS_ACCOUNT]-&gt;(:Account)-[t3:ACCOUNT_TRANSFERS_ACCOUNT]-&gt;(b:Account {is_blocked: true})</a:t>
            </a:r>
          </a:p>
          <a:p>
            <a:r>
              <a:rPr sz="1200" b="0">
                <a:solidFill>
                  <a:srgbClr val="1D1B2F"/>
                </a:solidFill>
                <a:latin typeface="Menlo"/>
              </a:rPr>
              <a:t>WHERE t1.create_time &gt; d.create_time AND t2.create_time &gt; t1.create_time AND t3.create_time &gt; t2.create_time</a:t>
            </a:r>
          </a:p>
          <a:p>
            <a:r>
              <a:rPr sz="1200" b="0">
                <a:solidFill>
                  <a:srgbClr val="1D1B2F"/>
                </a:solidFill>
                <a:latin typeface="Menlo"/>
              </a:rPr>
              <a:t>RETURN id(l) AS lid, id(b) AS bid</a:t>
            </a:r>
          </a:p>
          <a:p>
            <a:r>
              <a:rPr sz="1200" b="0">
                <a:solidFill>
                  <a:srgbClr val="1D1B2F"/>
                </a:solidFill>
                <a:latin typeface="Menlo"/>
              </a:rPr>
              <a:t>}</a:t>
            </a:r>
          </a:p>
          <a:p>
            <a:r>
              <a:rPr sz="1200" b="0">
                <a:solidFill>
                  <a:srgbClr val="1D1B2F"/>
                </a:solidFill>
                <a:latin typeface="Menlo"/>
              </a:rPr>
              <a:t>RETURN count(DISTINCT lid) AS loans_reaching_blocked_1_to_3, count(DISTINCT bid) AS blocked_accounts_reached</a:t>
            </a:r>
          </a:p>
          <a:p>
            <a:r>
              <a:rPr sz="1200" b="0">
                <a:solidFill>
                  <a:srgbClr val="1D1B2F"/>
                </a:solidFill>
                <a:latin typeface="Menlo"/>
              </a:rPr>
              <a:t>LIMIT 1</a:t>
            </a:r>
          </a:p>
        </p:txBody>
      </p:sp>
      <p:sp>
        <p:nvSpPr>
          <p:cNvPr id="4" name="TextBox 3"/>
          <p:cNvSpPr txBox="1"/>
          <p:nvPr/>
        </p:nvSpPr>
        <p:spPr>
          <a:xfrm>
            <a:off x="762000" y="8115300"/>
            <a:ext cx="11430000" cy="285750"/>
          </a:xfrm>
          <a:prstGeom prst="rect">
            <a:avLst/>
          </a:prstGeom>
          <a:noFill/>
        </p:spPr>
        <p:txBody>
          <a:bodyPr wrap="square">
            <a:spAutoFit/>
          </a:bodyPr>
          <a:lstStyle/>
          <a:p>
            <a:r>
              <a:rPr sz="1050" b="0">
                <a:solidFill>
                  <a:srgbClr val="5F5B73"/>
                </a:solidFill>
                <a:latin typeface="Helvetica"/>
              </a:rPr>
              <a:t>Appendix · Synthetic LDBC FinBench data · queried through PuppyGraph</a:t>
            </a:r>
          </a:p>
        </p:txBody>
      </p:sp>
      <p:sp>
        <p:nvSpPr>
          <p:cNvPr id="5" name="TextBox 4"/>
          <p:cNvSpPr txBox="1"/>
          <p:nvPr/>
        </p:nvSpPr>
        <p:spPr>
          <a:xfrm>
            <a:off x="13716000" y="8115300"/>
            <a:ext cx="762000" cy="285750"/>
          </a:xfrm>
          <a:prstGeom prst="rect">
            <a:avLst/>
          </a:prstGeom>
          <a:noFill/>
        </p:spPr>
        <p:txBody>
          <a:bodyPr wrap="square">
            <a:spAutoFit/>
          </a:bodyPr>
          <a:lstStyle/>
          <a:p>
            <a:pPr algn="r"/>
            <a:r>
              <a:rPr sz="1050" b="0">
                <a:solidFill>
                  <a:srgbClr val="5F5B73"/>
                </a:solidFill>
                <a:latin typeface="Helvetica"/>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533400"/>
            <a:ext cx="13716000" cy="571500"/>
          </a:xfrm>
          <a:prstGeom prst="rect">
            <a:avLst/>
          </a:prstGeom>
          <a:noFill/>
        </p:spPr>
        <p:txBody>
          <a:bodyPr wrap="square">
            <a:spAutoFit/>
          </a:bodyPr>
          <a:lstStyle/>
          <a:p>
            <a:r>
              <a:rPr sz="2250" b="1">
                <a:solidFill>
                  <a:srgbClr val="1D1B2F"/>
                </a:solidFill>
                <a:latin typeface="Helvetica"/>
              </a:rPr>
              <a:t>A4 · Fig 4: Guarantee pairs by chain distance</a:t>
            </a:r>
          </a:p>
        </p:txBody>
      </p:sp>
      <p:sp>
        <p:nvSpPr>
          <p:cNvPr id="3" name="TextBox 2"/>
          <p:cNvSpPr txBox="1"/>
          <p:nvPr/>
        </p:nvSpPr>
        <p:spPr>
          <a:xfrm>
            <a:off x="762000" y="1238250"/>
            <a:ext cx="8953500" cy="6667500"/>
          </a:xfrm>
          <a:prstGeom prst="rect">
            <a:avLst/>
          </a:prstGeom>
          <a:noFill/>
        </p:spPr>
        <p:txBody>
          <a:bodyPr wrap="square">
            <a:spAutoFit/>
          </a:bodyPr>
          <a:lstStyle/>
          <a:p>
            <a:r>
              <a:rPr sz="750" b="0">
                <a:solidFill>
                  <a:srgbClr val="1D1B2F"/>
                </a:solidFill>
                <a:latin typeface="Menlo"/>
              </a:rPr>
              <a:t>Guarantee-pair counts by chain distance</a:t>
            </a:r>
          </a:p>
          <a:p>
            <a:r>
              <a:rPr sz="750" b="0">
                <a:solidFill>
                  <a:srgbClr val="1D1B2F"/>
                </a:solidFill>
                <a:latin typeface="Menlo"/>
              </a:rPr>
              <a:t>CALL {</a:t>
            </a:r>
          </a:p>
          <a:p>
            <a:r>
              <a:rPr sz="750" b="0">
                <a:solidFill>
                  <a:srgbClr val="1D1B2F"/>
                </a:solidFill>
                <a:latin typeface="Menlo"/>
              </a:rPr>
              <a:t>MATCH (g:Person)-[:PERSON_GUARANTEES_PERSON]-&gt;(b:Person)</a:t>
            </a:r>
          </a:p>
          <a:p>
            <a:r>
              <a:rPr sz="750" b="0">
                <a:solidFill>
                  <a:srgbClr val="1D1B2F"/>
                </a:solidFill>
                <a:latin typeface="Menlo"/>
              </a:rPr>
              <a:t>WITH DISTINCT id(g) AS gid, id(b) AS bid</a:t>
            </a:r>
          </a:p>
          <a:p>
            <a:r>
              <a:rPr sz="750" b="0">
                <a:solidFill>
                  <a:srgbClr val="1D1B2F"/>
                </a:solidFill>
                <a:latin typeface="Menlo"/>
              </a:rPr>
              <a:t>RETURN 'Person' AS entity_type, 1 AS hops, count(*) AS pairs</a:t>
            </a:r>
          </a:p>
          <a:p>
            <a:r>
              <a:rPr sz="750" b="0">
                <a:solidFill>
                  <a:srgbClr val="1D1B2F"/>
                </a:solidFill>
                <a:latin typeface="Menlo"/>
              </a:rPr>
              <a:t>UNION</a:t>
            </a:r>
          </a:p>
          <a:p>
            <a:r>
              <a:rPr sz="750" b="0">
                <a:solidFill>
                  <a:srgbClr val="1D1B2F"/>
                </a:solidFill>
                <a:latin typeface="Menlo"/>
              </a:rPr>
              <a:t>MATCH (g:Person)-[:PERSON_GUARANTEES_PERSON]-&gt;(:Person)-[:PERSON_GUARANTEES_PERSON]-&gt;(b:Person)</a:t>
            </a:r>
          </a:p>
          <a:p>
            <a:r>
              <a:rPr sz="750" b="0">
                <a:solidFill>
                  <a:srgbClr val="1D1B2F"/>
                </a:solidFill>
                <a:latin typeface="Menlo"/>
              </a:rPr>
              <a:t>WITH DISTINCT id(g) AS gid, id(b) AS bid</a:t>
            </a:r>
          </a:p>
          <a:p>
            <a:r>
              <a:rPr sz="750" b="0">
                <a:solidFill>
                  <a:srgbClr val="1D1B2F"/>
                </a:solidFill>
                <a:latin typeface="Menlo"/>
              </a:rPr>
              <a:t>RETURN 'Person' AS entity_type, 2 AS hops, count(*) AS pairs</a:t>
            </a:r>
          </a:p>
          <a:p>
            <a:r>
              <a:rPr sz="750" b="0">
                <a:solidFill>
                  <a:srgbClr val="1D1B2F"/>
                </a:solidFill>
                <a:latin typeface="Menlo"/>
              </a:rPr>
              <a:t>UNION</a:t>
            </a:r>
          </a:p>
          <a:p>
            <a:r>
              <a:rPr sz="750" b="0">
                <a:solidFill>
                  <a:srgbClr val="1D1B2F"/>
                </a:solidFill>
                <a:latin typeface="Menlo"/>
              </a:rPr>
              <a:t>MATCH (g:Person)-[:PERSON_GUARANTEES_PERSON]-&gt;(:Person)-[:PERSON_GUARANTEES_PERSON]-&gt;(:Person)-[:PERSON_GUARANTEES_PERSON]-&gt;(b:Person)</a:t>
            </a:r>
          </a:p>
          <a:p>
            <a:r>
              <a:rPr sz="750" b="0">
                <a:solidFill>
                  <a:srgbClr val="1D1B2F"/>
                </a:solidFill>
                <a:latin typeface="Menlo"/>
              </a:rPr>
              <a:t>WITH DISTINCT id(g) AS gid, id(b) AS bid</a:t>
            </a:r>
          </a:p>
          <a:p>
            <a:r>
              <a:rPr sz="750" b="0">
                <a:solidFill>
                  <a:srgbClr val="1D1B2F"/>
                </a:solidFill>
                <a:latin typeface="Menlo"/>
              </a:rPr>
              <a:t>RETURN 'Person' AS entity_type, 3 AS hops, count(*) AS pairs</a:t>
            </a:r>
          </a:p>
          <a:p>
            <a:r>
              <a:rPr sz="750" b="0">
                <a:solidFill>
                  <a:srgbClr val="1D1B2F"/>
                </a:solidFill>
                <a:latin typeface="Menlo"/>
              </a:rPr>
              <a:t>UNION</a:t>
            </a:r>
          </a:p>
          <a:p>
            <a:r>
              <a:rPr sz="750" b="0">
                <a:solidFill>
                  <a:srgbClr val="1D1B2F"/>
                </a:solidFill>
                <a:latin typeface="Menlo"/>
              </a:rPr>
              <a:t>MATCH (g:Person)-[:PERSON_GUARANTEES_PERSON]-&gt;(:Person)-[:PERSON_GUARANTEES_PERSON]-&gt;(:Person)-[:PERSON_GUARANTEES_PERSON]-&gt;(:Person)-[:PERSON_GUARANTEES_PERSON]-&gt;(b:Person)</a:t>
            </a:r>
          </a:p>
          <a:p>
            <a:r>
              <a:rPr sz="750" b="0">
                <a:solidFill>
                  <a:srgbClr val="1D1B2F"/>
                </a:solidFill>
                <a:latin typeface="Menlo"/>
              </a:rPr>
              <a:t>WITH DISTINCT id(g) AS gid, id(b) AS bid</a:t>
            </a:r>
          </a:p>
          <a:p>
            <a:r>
              <a:rPr sz="750" b="0">
                <a:solidFill>
                  <a:srgbClr val="1D1B2F"/>
                </a:solidFill>
                <a:latin typeface="Menlo"/>
              </a:rPr>
              <a:t>RETURN 'Person' AS entity_type, 4 AS hops, count(*) AS pairs</a:t>
            </a:r>
          </a:p>
          <a:p>
            <a:r>
              <a:rPr sz="750" b="0">
                <a:solidFill>
                  <a:srgbClr val="1D1B2F"/>
                </a:solidFill>
                <a:latin typeface="Menlo"/>
              </a:rPr>
              <a:t>UNION</a:t>
            </a:r>
          </a:p>
          <a:p>
            <a:r>
              <a:rPr sz="750" b="0">
                <a:solidFill>
                  <a:srgbClr val="1D1B2F"/>
                </a:solidFill>
                <a:latin typeface="Menlo"/>
              </a:rPr>
              <a:t>MATCH (g:Company)-[:COMPANY_GUARANTEES_COMPANY]-&gt;(b:Company)</a:t>
            </a:r>
          </a:p>
          <a:p>
            <a:r>
              <a:rPr sz="750" b="0">
                <a:solidFill>
                  <a:srgbClr val="1D1B2F"/>
                </a:solidFill>
                <a:latin typeface="Menlo"/>
              </a:rPr>
              <a:t>WITH DISTINCT id(g) AS gid, id(b) AS bid</a:t>
            </a:r>
          </a:p>
          <a:p>
            <a:r>
              <a:rPr sz="750" b="0">
                <a:solidFill>
                  <a:srgbClr val="1D1B2F"/>
                </a:solidFill>
                <a:latin typeface="Menlo"/>
              </a:rPr>
              <a:t>RETURN 'Company' AS entity_type, 1 AS hops, count(*) AS pairs</a:t>
            </a:r>
          </a:p>
          <a:p>
            <a:r>
              <a:rPr sz="750" b="0">
                <a:solidFill>
                  <a:srgbClr val="1D1B2F"/>
                </a:solidFill>
                <a:latin typeface="Menlo"/>
              </a:rPr>
              <a:t>UNION</a:t>
            </a:r>
          </a:p>
          <a:p>
            <a:r>
              <a:rPr sz="750" b="0">
                <a:solidFill>
                  <a:srgbClr val="1D1B2F"/>
                </a:solidFill>
                <a:latin typeface="Menlo"/>
              </a:rPr>
              <a:t>MATCH (g:Company)-[:COMPANY_GUARANTEES_COMPANY]-&gt;(:Company)-[:COMPANY_GUARANTEES_COMPANY]-&gt;(b:Company)</a:t>
            </a:r>
          </a:p>
          <a:p>
            <a:r>
              <a:rPr sz="750" b="0">
                <a:solidFill>
                  <a:srgbClr val="1D1B2F"/>
                </a:solidFill>
                <a:latin typeface="Menlo"/>
              </a:rPr>
              <a:t>WITH DISTINCT id(g) AS gid, id(b) AS bid</a:t>
            </a:r>
          </a:p>
          <a:p>
            <a:r>
              <a:rPr sz="750" b="0">
                <a:solidFill>
                  <a:srgbClr val="1D1B2F"/>
                </a:solidFill>
                <a:latin typeface="Menlo"/>
              </a:rPr>
              <a:t>RETURN 'Company' AS entity_type, 2 AS hops, count(*) AS pairs</a:t>
            </a:r>
          </a:p>
          <a:p>
            <a:r>
              <a:rPr sz="750" b="0">
                <a:solidFill>
                  <a:srgbClr val="1D1B2F"/>
                </a:solidFill>
                <a:latin typeface="Menlo"/>
              </a:rPr>
              <a:t>UNION</a:t>
            </a:r>
          </a:p>
          <a:p>
            <a:r>
              <a:rPr sz="750" b="0">
                <a:solidFill>
                  <a:srgbClr val="1D1B2F"/>
                </a:solidFill>
                <a:latin typeface="Menlo"/>
              </a:rPr>
              <a:t>MATCH (g:Company)-[:COMPANY_GUARANTEES_COMPANY]-&gt;(:Company)-[:COMPANY_GUARANTEES_COMPANY]-&gt;(:Company)-[:COMPANY_GUARANTEES_COMPANY]-&gt;(b:Company)</a:t>
            </a:r>
          </a:p>
          <a:p>
            <a:r>
              <a:rPr sz="750" b="0">
                <a:solidFill>
                  <a:srgbClr val="1D1B2F"/>
                </a:solidFill>
                <a:latin typeface="Menlo"/>
              </a:rPr>
              <a:t>WITH DISTINCT id(g) AS gid, id(b) AS bid</a:t>
            </a:r>
          </a:p>
          <a:p>
            <a:r>
              <a:rPr sz="750" b="0">
                <a:solidFill>
                  <a:srgbClr val="1D1B2F"/>
                </a:solidFill>
                <a:latin typeface="Menlo"/>
              </a:rPr>
              <a:t>RETURN 'Company' AS entity_type, 3 AS hops, count(*) AS pairs</a:t>
            </a:r>
          </a:p>
          <a:p>
            <a:r>
              <a:rPr sz="750" b="0">
                <a:solidFill>
                  <a:srgbClr val="1D1B2F"/>
                </a:solidFill>
                <a:latin typeface="Menlo"/>
              </a:rPr>
              <a:t>UNION</a:t>
            </a:r>
          </a:p>
          <a:p>
            <a:r>
              <a:rPr sz="750" b="0">
                <a:solidFill>
                  <a:srgbClr val="1D1B2F"/>
                </a:solidFill>
                <a:latin typeface="Menlo"/>
              </a:rPr>
              <a:t>MATCH (g:Company)-[:COMPANY_GUARANTEES_COMPANY]-&gt;(:Company)-[:COMPANY_GUARANTEES_COMPANY]-&gt;(:Company)-[:COMPANY_GUARANTEES_COMPANY]-&gt;(:Company)-[:COMPANY_GUARANTEES_COMPANY]-&gt;(b:Company)</a:t>
            </a:r>
          </a:p>
          <a:p>
            <a:r>
              <a:rPr sz="750" b="0">
                <a:solidFill>
                  <a:srgbClr val="1D1B2F"/>
                </a:solidFill>
                <a:latin typeface="Menlo"/>
              </a:rPr>
              <a:t>WITH DISTINCT id(g) AS gid, id(b) AS bid</a:t>
            </a:r>
          </a:p>
          <a:p>
            <a:r>
              <a:rPr sz="750" b="0">
                <a:solidFill>
                  <a:srgbClr val="1D1B2F"/>
                </a:solidFill>
                <a:latin typeface="Menlo"/>
              </a:rPr>
              <a:t>RETURN 'Company' AS entity_type, 4 AS hops, count(*) AS pairs</a:t>
            </a:r>
          </a:p>
          <a:p>
            <a:r>
              <a:rPr sz="750" b="0">
                <a:solidFill>
                  <a:srgbClr val="1D1B2F"/>
                </a:solidFill>
                <a:latin typeface="Menlo"/>
              </a:rPr>
              <a:t>}</a:t>
            </a:r>
          </a:p>
          <a:p>
            <a:r>
              <a:rPr sz="750" b="0">
                <a:solidFill>
                  <a:srgbClr val="1D1B2F"/>
                </a:solidFill>
                <a:latin typeface="Menlo"/>
              </a:rPr>
              <a:t>RETURN entity_type, hops, pairs</a:t>
            </a:r>
          </a:p>
          <a:p>
            <a:r>
              <a:rPr sz="750" b="0">
                <a:solidFill>
                  <a:srgbClr val="1D1B2F"/>
                </a:solidFill>
                <a:latin typeface="Menlo"/>
              </a:rPr>
              <a:t>ORDER BY entity_type, hops</a:t>
            </a:r>
          </a:p>
        </p:txBody>
      </p:sp>
      <p:sp>
        <p:nvSpPr>
          <p:cNvPr id="4" name="TextBox 3"/>
          <p:cNvSpPr txBox="1"/>
          <p:nvPr/>
        </p:nvSpPr>
        <p:spPr>
          <a:xfrm>
            <a:off x="10058400" y="1238250"/>
            <a:ext cx="4419600" cy="285750"/>
          </a:xfrm>
          <a:prstGeom prst="rect">
            <a:avLst/>
          </a:prstGeom>
          <a:noFill/>
        </p:spPr>
        <p:txBody>
          <a:bodyPr wrap="square">
            <a:spAutoFit/>
          </a:bodyPr>
          <a:lstStyle/>
          <a:p>
            <a:r>
              <a:rPr sz="1350" b="1">
                <a:solidFill>
                  <a:srgbClr val="5B2A86"/>
                </a:solidFill>
                <a:latin typeface="Helvetica"/>
              </a:rPr>
              <a:t>Results and derivation</a:t>
            </a:r>
          </a:p>
        </p:txBody>
      </p:sp>
      <p:sp>
        <p:nvSpPr>
          <p:cNvPr id="5" name="TextBox 4"/>
          <p:cNvSpPr txBox="1"/>
          <p:nvPr/>
        </p:nvSpPr>
        <p:spPr>
          <a:xfrm>
            <a:off x="10058400" y="1581150"/>
            <a:ext cx="4419600" cy="6286500"/>
          </a:xfrm>
          <a:prstGeom prst="rect">
            <a:avLst/>
          </a:prstGeom>
          <a:noFill/>
        </p:spPr>
        <p:txBody>
          <a:bodyPr wrap="square">
            <a:spAutoFit/>
          </a:bodyPr>
          <a:lstStyle/>
          <a:p>
            <a:r>
              <a:rPr sz="1275" b="0">
                <a:solidFill>
                  <a:srgbClr val="1D1B2F"/>
                </a:solidFill>
                <a:latin typeface="Helvetica"/>
              </a:rPr>
              <a:t>Distance query returned person pairs of 377, 181, 90 and 55 at 1-4 hops; company pairs of 202, 89, 35 and 13. Unique 1-4 hop query returned 702 person pairs and 339 company pairs, totaling 1,041; direct pairs were 377 + 202 = 579, so 1,041 / 579 = 1.8x and the additional unique indirect layer is 1,041 - 579 = 462 pairs. Loan-chain query returned 888 person guarantor-loan pairs and 394 company guarantor-loan pairs, totaling 1,282; balances summed to 41,772,678,551 + 18,414,685,139 = 60,187,363,690 over those guarantor-loan links. Baseline query returned 927 person-applied loans and 449 company-applied loans; reachable loan counts were 382 / 927 = 41.2% and 190 / 449 = 42.3%.</a:t>
            </a:r>
          </a:p>
        </p:txBody>
      </p:sp>
      <p:sp>
        <p:nvSpPr>
          <p:cNvPr id="6" name="TextBox 5"/>
          <p:cNvSpPr txBox="1"/>
          <p:nvPr/>
        </p:nvSpPr>
        <p:spPr>
          <a:xfrm>
            <a:off x="762000" y="8115300"/>
            <a:ext cx="11430000" cy="285750"/>
          </a:xfrm>
          <a:prstGeom prst="rect">
            <a:avLst/>
          </a:prstGeom>
          <a:noFill/>
        </p:spPr>
        <p:txBody>
          <a:bodyPr wrap="square">
            <a:spAutoFit/>
          </a:bodyPr>
          <a:lstStyle/>
          <a:p>
            <a:r>
              <a:rPr sz="1050" b="0">
                <a:solidFill>
                  <a:srgbClr val="5F5B73"/>
                </a:solidFill>
                <a:latin typeface="Helvetica"/>
              </a:rPr>
              <a:t>Appendix · Synthetic LDBC FinBench data · queried through PuppyGraph</a:t>
            </a:r>
          </a:p>
        </p:txBody>
      </p:sp>
      <p:sp>
        <p:nvSpPr>
          <p:cNvPr id="7" name="TextBox 6"/>
          <p:cNvSpPr txBox="1"/>
          <p:nvPr/>
        </p:nvSpPr>
        <p:spPr>
          <a:xfrm>
            <a:off x="13716000" y="8115300"/>
            <a:ext cx="762000" cy="285750"/>
          </a:xfrm>
          <a:prstGeom prst="rect">
            <a:avLst/>
          </a:prstGeom>
          <a:noFill/>
        </p:spPr>
        <p:txBody>
          <a:bodyPr wrap="square">
            <a:spAutoFit/>
          </a:bodyPr>
          <a:lstStyle/>
          <a:p>
            <a:pPr algn="r"/>
            <a:r>
              <a:rPr sz="1050" b="0">
                <a:solidFill>
                  <a:srgbClr val="5F5B73"/>
                </a:solidFill>
                <a:latin typeface="Helvetica"/>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533400"/>
            <a:ext cx="13716000" cy="571500"/>
          </a:xfrm>
          <a:prstGeom prst="rect">
            <a:avLst/>
          </a:prstGeom>
          <a:noFill/>
        </p:spPr>
        <p:txBody>
          <a:bodyPr wrap="square">
            <a:spAutoFit/>
          </a:bodyPr>
          <a:lstStyle/>
          <a:p>
            <a:r>
              <a:rPr sz="2250" b="1">
                <a:solidFill>
                  <a:srgbClr val="1D1B2F"/>
                </a:solidFill>
                <a:latin typeface="Helvetica"/>
              </a:rPr>
              <a:t>A4 · Fig 4: Guarantee pairs by chain distance (continued, 2/3)</a:t>
            </a:r>
          </a:p>
        </p:txBody>
      </p:sp>
      <p:sp>
        <p:nvSpPr>
          <p:cNvPr id="3" name="TextBox 2"/>
          <p:cNvSpPr txBox="1"/>
          <p:nvPr/>
        </p:nvSpPr>
        <p:spPr>
          <a:xfrm>
            <a:off x="762000" y="1238250"/>
            <a:ext cx="13716000" cy="6667500"/>
          </a:xfrm>
          <a:prstGeom prst="rect">
            <a:avLst/>
          </a:prstGeom>
          <a:noFill/>
        </p:spPr>
        <p:txBody>
          <a:bodyPr wrap="square">
            <a:spAutoFit/>
          </a:bodyPr>
          <a:lstStyle/>
          <a:p>
            <a:r>
              <a:rPr sz="1125" b="0">
                <a:solidFill>
                  <a:srgbClr val="1D1B2F"/>
                </a:solidFill>
                <a:latin typeface="Menlo"/>
              </a:rPr>
              <a:t>Unique 1-4 hop guarantee pairs by entity type</a:t>
            </a:r>
          </a:p>
          <a:p>
            <a:r>
              <a:rPr sz="1125" b="0">
                <a:solidFill>
                  <a:srgbClr val="1D1B2F"/>
                </a:solidFill>
                <a:latin typeface="Menlo"/>
              </a:rPr>
              <a:t>CALL {</a:t>
            </a:r>
          </a:p>
          <a:p>
            <a:r>
              <a:rPr sz="1125" b="0">
                <a:solidFill>
                  <a:srgbClr val="1D1B2F"/>
                </a:solidFill>
                <a:latin typeface="Menlo"/>
              </a:rPr>
              <a:t>MATCH (g:Person)-[:PERSON_GUARANTEES_PERSON]-&gt;(b:Person) RETURN 'Person' AS entity_type, id(g) AS gid, id(b) AS bid</a:t>
            </a:r>
          </a:p>
          <a:p>
            <a:r>
              <a:rPr sz="1125" b="0">
                <a:solidFill>
                  <a:srgbClr val="1D1B2F"/>
                </a:solidFill>
                <a:latin typeface="Menlo"/>
              </a:rPr>
              <a:t>UNION</a:t>
            </a:r>
          </a:p>
          <a:p>
            <a:r>
              <a:rPr sz="1125" b="0">
                <a:solidFill>
                  <a:srgbClr val="1D1B2F"/>
                </a:solidFill>
                <a:latin typeface="Menlo"/>
              </a:rPr>
              <a:t>MATCH (g:Person)-[:PERSON_GUARANTEES_PERSON]-&gt;(:Person)-[:PERSON_GUARANTEES_PERSON]-&gt;(b:Person) RETURN 'Person' AS entity_type, id(g) AS gid, id(b) AS bid</a:t>
            </a:r>
          </a:p>
          <a:p>
            <a:r>
              <a:rPr sz="1125" b="0">
                <a:solidFill>
                  <a:srgbClr val="1D1B2F"/>
                </a:solidFill>
                <a:latin typeface="Menlo"/>
              </a:rPr>
              <a:t>UNION</a:t>
            </a:r>
          </a:p>
          <a:p>
            <a:r>
              <a:rPr sz="1125" b="0">
                <a:solidFill>
                  <a:srgbClr val="1D1B2F"/>
                </a:solidFill>
                <a:latin typeface="Menlo"/>
              </a:rPr>
              <a:t>MATCH (g:Person)-[:PERSON_GUARANTEES_PERSON]-&gt;(:Person)-[:PERSON_GUARANTEES_PERSON]-&gt;(:Person)-[:PERSON_GUARANTEES_PERSON]-&gt;(b:Person) RETURN 'Person' AS entity_type, id(g) AS gid, id(b) AS bid</a:t>
            </a:r>
          </a:p>
          <a:p>
            <a:r>
              <a:rPr sz="1125" b="0">
                <a:solidFill>
                  <a:srgbClr val="1D1B2F"/>
                </a:solidFill>
                <a:latin typeface="Menlo"/>
              </a:rPr>
              <a:t>UNION</a:t>
            </a:r>
          </a:p>
          <a:p>
            <a:r>
              <a:rPr sz="1125" b="0">
                <a:solidFill>
                  <a:srgbClr val="1D1B2F"/>
                </a:solidFill>
                <a:latin typeface="Menlo"/>
              </a:rPr>
              <a:t>MATCH (g:Person)-[:PERSON_GUARANTEES_PERSON]-&gt;(:Person)-[:PERSON_GUARANTEES_PERSON]-&gt;(:Person)-[:PERSON_GUARANTEES_PERSON]-&gt;(:Person)-[:PERSON_GUARANTEES_PERSON]-&gt;(b:Person) RETURN 'Person' AS entity_type, id(g) AS gid, id(b) AS bid</a:t>
            </a:r>
          </a:p>
          <a:p>
            <a:r>
              <a:rPr sz="1125" b="0">
                <a:solidFill>
                  <a:srgbClr val="1D1B2F"/>
                </a:solidFill>
                <a:latin typeface="Menlo"/>
              </a:rPr>
              <a:t>UNION</a:t>
            </a:r>
          </a:p>
          <a:p>
            <a:r>
              <a:rPr sz="1125" b="0">
                <a:solidFill>
                  <a:srgbClr val="1D1B2F"/>
                </a:solidFill>
                <a:latin typeface="Menlo"/>
              </a:rPr>
              <a:t>MATCH (g:Company)-[:COMPANY_GUARANTEES_COMPANY]-&gt;(b:Company) RETURN 'Company' AS entity_type, id(g) AS gid, id(b) AS bid</a:t>
            </a:r>
          </a:p>
          <a:p>
            <a:r>
              <a:rPr sz="1125" b="0">
                <a:solidFill>
                  <a:srgbClr val="1D1B2F"/>
                </a:solidFill>
                <a:latin typeface="Menlo"/>
              </a:rPr>
              <a:t>UNION</a:t>
            </a:r>
          </a:p>
          <a:p>
            <a:r>
              <a:rPr sz="1125" b="0">
                <a:solidFill>
                  <a:srgbClr val="1D1B2F"/>
                </a:solidFill>
                <a:latin typeface="Menlo"/>
              </a:rPr>
              <a:t>MATCH (g:Company)-[:COMPANY_GUARANTEES_COMPANY]-&gt;(:Company)-[:COMPANY_GUARANTEES_COMPANY]-&gt;(b:Company) RETURN 'Company' AS entity_type, id(g) AS gid, id(b) AS bid</a:t>
            </a:r>
          </a:p>
          <a:p>
            <a:r>
              <a:rPr sz="1125" b="0">
                <a:solidFill>
                  <a:srgbClr val="1D1B2F"/>
                </a:solidFill>
                <a:latin typeface="Menlo"/>
              </a:rPr>
              <a:t>UNION</a:t>
            </a:r>
          </a:p>
          <a:p>
            <a:r>
              <a:rPr sz="1125" b="0">
                <a:solidFill>
                  <a:srgbClr val="1D1B2F"/>
                </a:solidFill>
                <a:latin typeface="Menlo"/>
              </a:rPr>
              <a:t>MATCH (g:Company)-[:COMPANY_GUARANTEES_COMPANY]-&gt;(:Company)-[:COMPANY_GUARANTEES_COMPANY]-&gt;(:Company)-[:COMPANY_GUARANTEES_COMPANY]-&gt;(b:Company) RETURN 'Company' AS entity_type, id(g) AS gid, id(b) AS bid</a:t>
            </a:r>
          </a:p>
          <a:p>
            <a:r>
              <a:rPr sz="1125" b="0">
                <a:solidFill>
                  <a:srgbClr val="1D1B2F"/>
                </a:solidFill>
                <a:latin typeface="Menlo"/>
              </a:rPr>
              <a:t>UNION</a:t>
            </a:r>
          </a:p>
          <a:p>
            <a:r>
              <a:rPr sz="1125" b="0">
                <a:solidFill>
                  <a:srgbClr val="1D1B2F"/>
                </a:solidFill>
                <a:latin typeface="Menlo"/>
              </a:rPr>
              <a:t>MATCH (g:Company)-[:COMPANY_GUARANTEES_COMPANY]-&gt;(:Company)-[:COMPANY_GUARANTEES_COMPANY]-&gt;(:Company)-[:COMPANY_GUARANTEES_COMPANY]-&gt;(:Company)-[:COMPANY_GUARANTEES_COMPANY]-&gt;(b:Company) RETURN 'Company' AS entity_type, id(g) AS gid, id(b) AS bid</a:t>
            </a:r>
          </a:p>
          <a:p>
            <a:r>
              <a:rPr sz="1125" b="0">
                <a:solidFill>
                  <a:srgbClr val="1D1B2F"/>
                </a:solidFill>
                <a:latin typeface="Menlo"/>
              </a:rPr>
              <a:t>}</a:t>
            </a:r>
          </a:p>
          <a:p>
            <a:r>
              <a:rPr sz="1125" b="0">
                <a:solidFill>
                  <a:srgbClr val="1D1B2F"/>
                </a:solidFill>
                <a:latin typeface="Menlo"/>
              </a:rPr>
              <a:t>WITH entity_type, gid, bid</a:t>
            </a:r>
          </a:p>
          <a:p>
            <a:r>
              <a:rPr sz="1125" b="0">
                <a:solidFill>
                  <a:srgbClr val="1D1B2F"/>
                </a:solidFill>
                <a:latin typeface="Menlo"/>
              </a:rPr>
              <a:t>WITH DISTINCT entity_type, gid, bid</a:t>
            </a:r>
          </a:p>
          <a:p>
            <a:r>
              <a:rPr sz="1125" b="0">
                <a:solidFill>
                  <a:srgbClr val="1D1B2F"/>
                </a:solidFill>
                <a:latin typeface="Menlo"/>
              </a:rPr>
              <a:t>RETURN entity_type, count(*) AS unique_pairs, count(DISTINCT gid) AS guarantors, count(DISTINCT bid) AS guaranteed_entities</a:t>
            </a:r>
          </a:p>
          <a:p>
            <a:r>
              <a:rPr sz="1125" b="0">
                <a:solidFill>
                  <a:srgbClr val="1D1B2F"/>
                </a:solidFill>
                <a:latin typeface="Menlo"/>
              </a:rPr>
              <a:t>ORDER BY entity_type</a:t>
            </a:r>
          </a:p>
        </p:txBody>
      </p:sp>
      <p:sp>
        <p:nvSpPr>
          <p:cNvPr id="4" name="TextBox 3"/>
          <p:cNvSpPr txBox="1"/>
          <p:nvPr/>
        </p:nvSpPr>
        <p:spPr>
          <a:xfrm>
            <a:off x="762000" y="8115300"/>
            <a:ext cx="11430000" cy="285750"/>
          </a:xfrm>
          <a:prstGeom prst="rect">
            <a:avLst/>
          </a:prstGeom>
          <a:noFill/>
        </p:spPr>
        <p:txBody>
          <a:bodyPr wrap="square">
            <a:spAutoFit/>
          </a:bodyPr>
          <a:lstStyle/>
          <a:p>
            <a:r>
              <a:rPr sz="1050" b="0">
                <a:solidFill>
                  <a:srgbClr val="5F5B73"/>
                </a:solidFill>
                <a:latin typeface="Helvetica"/>
              </a:rPr>
              <a:t>Appendix · Synthetic LDBC FinBench data · queried through PuppyGraph</a:t>
            </a:r>
          </a:p>
        </p:txBody>
      </p:sp>
      <p:sp>
        <p:nvSpPr>
          <p:cNvPr id="5" name="TextBox 4"/>
          <p:cNvSpPr txBox="1"/>
          <p:nvPr/>
        </p:nvSpPr>
        <p:spPr>
          <a:xfrm>
            <a:off x="13716000" y="8115300"/>
            <a:ext cx="762000" cy="285750"/>
          </a:xfrm>
          <a:prstGeom prst="rect">
            <a:avLst/>
          </a:prstGeom>
          <a:noFill/>
        </p:spPr>
        <p:txBody>
          <a:bodyPr wrap="square">
            <a:spAutoFit/>
          </a:bodyPr>
          <a:lstStyle/>
          <a:p>
            <a:pPr algn="r"/>
            <a:r>
              <a:rPr sz="1050" b="0">
                <a:solidFill>
                  <a:srgbClr val="5F5B73"/>
                </a:solidFill>
                <a:latin typeface="Helvetica"/>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533400"/>
            <a:ext cx="13716000" cy="571500"/>
          </a:xfrm>
          <a:prstGeom prst="rect">
            <a:avLst/>
          </a:prstGeom>
          <a:noFill/>
        </p:spPr>
        <p:txBody>
          <a:bodyPr wrap="square">
            <a:spAutoFit/>
          </a:bodyPr>
          <a:lstStyle/>
          <a:p>
            <a:r>
              <a:rPr sz="2250" b="1">
                <a:solidFill>
                  <a:srgbClr val="1D1B2F"/>
                </a:solidFill>
                <a:latin typeface="Helvetica"/>
              </a:rPr>
              <a:t>A4 · Fig 4: Guarantee pairs by chain distance (continued, 3/3)</a:t>
            </a:r>
          </a:p>
        </p:txBody>
      </p:sp>
      <p:sp>
        <p:nvSpPr>
          <p:cNvPr id="3" name="TextBox 2"/>
          <p:cNvSpPr txBox="1"/>
          <p:nvPr/>
        </p:nvSpPr>
        <p:spPr>
          <a:xfrm>
            <a:off x="762000" y="1238250"/>
            <a:ext cx="13716000" cy="6667500"/>
          </a:xfrm>
          <a:prstGeom prst="rect">
            <a:avLst/>
          </a:prstGeom>
          <a:noFill/>
        </p:spPr>
        <p:txBody>
          <a:bodyPr wrap="square">
            <a:spAutoFit/>
          </a:bodyPr>
          <a:lstStyle/>
          <a:p>
            <a:r>
              <a:rPr sz="1200" b="0">
                <a:solidFill>
                  <a:srgbClr val="1D1B2F"/>
                </a:solidFill>
                <a:latin typeface="Menlo"/>
              </a:rPr>
              <a:t>Loans connected through guarantee chains</a:t>
            </a:r>
          </a:p>
          <a:p>
            <a:r>
              <a:rPr sz="1200" b="0">
                <a:solidFill>
                  <a:srgbClr val="1D1B2F"/>
                </a:solidFill>
                <a:latin typeface="Menlo"/>
              </a:rPr>
              <a:t>MATCH (g:Person)-[:PERSON_GUARANTEES_PERSON*1..4]-&gt;(b:Person)-[:PERSON_APPLIES_LOAN]-&gt;(l:Loan)</a:t>
            </a:r>
          </a:p>
          <a:p>
            <a:r>
              <a:rPr sz="1200" b="0">
                <a:solidFill>
                  <a:srgbClr val="1D1B2F"/>
                </a:solidFill>
                <a:latin typeface="Menlo"/>
              </a:rPr>
              <a:t>WITH DISTINCT id(g) AS gid, id(l) AS lid, l.balance AS balance</a:t>
            </a:r>
          </a:p>
          <a:p>
            <a:r>
              <a:rPr sz="1200" b="0">
                <a:solidFill>
                  <a:srgbClr val="1D1B2F"/>
                </a:solidFill>
                <a:latin typeface="Menlo"/>
              </a:rPr>
              <a:t>RETURN 'Person' AS entity_type, count(*) AS guarantor_loan_pairs, count(DISTINCT gid) AS guarantors, count(DISTINCT lid) AS loans, sum(balance) AS exposure_balance</a:t>
            </a:r>
          </a:p>
          <a:p>
            <a:r>
              <a:rPr sz="1200" b="0">
                <a:solidFill>
                  <a:srgbClr val="1D1B2F"/>
                </a:solidFill>
                <a:latin typeface="Menlo"/>
              </a:rPr>
              <a:t>UNION</a:t>
            </a:r>
          </a:p>
          <a:p>
            <a:r>
              <a:rPr sz="1200" b="0">
                <a:solidFill>
                  <a:srgbClr val="1D1B2F"/>
                </a:solidFill>
                <a:latin typeface="Menlo"/>
              </a:rPr>
              <a:t>MATCH (g:Company)-[:COMPANY_GUARANTEES_COMPANY*1..4]-&gt;(b:Company)-[:COMPANY_APPLIES_LOAN]-&gt;(l:Loan)</a:t>
            </a:r>
          </a:p>
          <a:p>
            <a:r>
              <a:rPr sz="1200" b="0">
                <a:solidFill>
                  <a:srgbClr val="1D1B2F"/>
                </a:solidFill>
                <a:latin typeface="Menlo"/>
              </a:rPr>
              <a:t>WITH DISTINCT id(g) AS gid, id(l) AS lid, l.balance AS balance</a:t>
            </a:r>
          </a:p>
          <a:p>
            <a:r>
              <a:rPr sz="1200" b="0">
                <a:solidFill>
                  <a:srgbClr val="1D1B2F"/>
                </a:solidFill>
                <a:latin typeface="Menlo"/>
              </a:rPr>
              <a:t>RETURN 'Company' AS entity_type, count(*) AS guarantor_loan_pairs, count(DISTINCT gid) AS guarantors, count(DISTINCT lid) AS loans, sum(balance) AS exposure_balance</a:t>
            </a:r>
          </a:p>
          <a:p/>
          <a:p>
            <a:r>
              <a:rPr sz="1200" b="0">
                <a:solidFill>
                  <a:srgbClr val="1D1B2F"/>
                </a:solidFill>
                <a:latin typeface="Menlo"/>
              </a:rPr>
              <a:t>Loan-application baselines by applicant type</a:t>
            </a:r>
          </a:p>
          <a:p>
            <a:r>
              <a:rPr sz="1200" b="0">
                <a:solidFill>
                  <a:srgbClr val="1D1B2F"/>
                </a:solidFill>
                <a:latin typeface="Menlo"/>
              </a:rPr>
              <a:t>MATCH (:Person)-[:PERSON_APPLIES_LOAN]-&gt;(pl:Loan)</a:t>
            </a:r>
          </a:p>
          <a:p>
            <a:r>
              <a:rPr sz="1200" b="0">
                <a:solidFill>
                  <a:srgbClr val="1D1B2F"/>
                </a:solidFill>
                <a:latin typeface="Menlo"/>
              </a:rPr>
              <a:t>WITH count(DISTINCT pl) AS person_loans</a:t>
            </a:r>
          </a:p>
          <a:p>
            <a:r>
              <a:rPr sz="1200" b="0">
                <a:solidFill>
                  <a:srgbClr val="1D1B2F"/>
                </a:solidFill>
                <a:latin typeface="Menlo"/>
              </a:rPr>
              <a:t>MATCH (:Company)-[:COMPANY_APPLIES_LOAN]-&gt;(cl:Loan)</a:t>
            </a:r>
          </a:p>
          <a:p>
            <a:r>
              <a:rPr sz="1200" b="0">
                <a:solidFill>
                  <a:srgbClr val="1D1B2F"/>
                </a:solidFill>
                <a:latin typeface="Menlo"/>
              </a:rPr>
              <a:t>RETURN person_loans, count(DISTINCT cl) AS company_loans</a:t>
            </a:r>
          </a:p>
          <a:p>
            <a:r>
              <a:rPr sz="1200" b="0">
                <a:solidFill>
                  <a:srgbClr val="1D1B2F"/>
                </a:solidFill>
                <a:latin typeface="Menlo"/>
              </a:rPr>
              <a:t>LIMIT 1</a:t>
            </a:r>
          </a:p>
        </p:txBody>
      </p:sp>
      <p:sp>
        <p:nvSpPr>
          <p:cNvPr id="4" name="TextBox 3"/>
          <p:cNvSpPr txBox="1"/>
          <p:nvPr/>
        </p:nvSpPr>
        <p:spPr>
          <a:xfrm>
            <a:off x="762000" y="8115300"/>
            <a:ext cx="11430000" cy="285750"/>
          </a:xfrm>
          <a:prstGeom prst="rect">
            <a:avLst/>
          </a:prstGeom>
          <a:noFill/>
        </p:spPr>
        <p:txBody>
          <a:bodyPr wrap="square">
            <a:spAutoFit/>
          </a:bodyPr>
          <a:lstStyle/>
          <a:p>
            <a:r>
              <a:rPr sz="1050" b="0">
                <a:solidFill>
                  <a:srgbClr val="5F5B73"/>
                </a:solidFill>
                <a:latin typeface="Helvetica"/>
              </a:rPr>
              <a:t>Appendix · Synthetic LDBC FinBench data · queried through PuppyGraph</a:t>
            </a:r>
          </a:p>
        </p:txBody>
      </p:sp>
      <p:sp>
        <p:nvSpPr>
          <p:cNvPr id="5" name="TextBox 4"/>
          <p:cNvSpPr txBox="1"/>
          <p:nvPr/>
        </p:nvSpPr>
        <p:spPr>
          <a:xfrm>
            <a:off x="13716000" y="8115300"/>
            <a:ext cx="762000" cy="285750"/>
          </a:xfrm>
          <a:prstGeom prst="rect">
            <a:avLst/>
          </a:prstGeom>
          <a:noFill/>
        </p:spPr>
        <p:txBody>
          <a:bodyPr wrap="square">
            <a:spAutoFit/>
          </a:bodyPr>
          <a:lstStyle/>
          <a:p>
            <a:pPr algn="r"/>
            <a:r>
              <a:rPr sz="1050" b="0">
                <a:solidFill>
                  <a:srgbClr val="5F5B73"/>
                </a:solidFill>
                <a:latin typeface="Helvetica"/>
              </a:rPr>
              <a:t>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